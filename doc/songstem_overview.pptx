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7" r:id="rId2"/>
    <p:sldId id="261" r:id="rId3"/>
    <p:sldId id="262" r:id="rId4"/>
    <p:sldId id="268" r:id="rId5"/>
    <p:sldId id="263" r:id="rId6"/>
    <p:sldId id="256" r:id="rId7"/>
    <p:sldId id="259" r:id="rId8"/>
    <p:sldId id="260" r:id="rId9"/>
    <p:sldId id="270" r:id="rId10"/>
    <p:sldId id="271" r:id="rId11"/>
    <p:sldId id="266" r:id="rId12"/>
    <p:sldId id="269" r:id="rId13"/>
    <p:sldId id="257" r:id="rId14"/>
    <p:sldId id="258" r:id="rId15"/>
    <p:sldId id="265"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17" autoAdjust="0"/>
  </p:normalViewPr>
  <p:slideViewPr>
    <p:cSldViewPr snapToGrid="0" snapToObjects="1">
      <p:cViewPr varScale="1">
        <p:scale>
          <a:sx n="137" d="100"/>
          <a:sy n="137" d="100"/>
        </p:scale>
        <p:origin x="1164" y="7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4D4BBE-AA1D-4C20-868D-11E39CB5A265}"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F572DD-A90C-48FE-985E-BF1B77401B26}" type="slidenum">
              <a:rPr lang="en-US" smtClean="0"/>
              <a:t>‹#›</a:t>
            </a:fld>
            <a:endParaRPr lang="en-US"/>
          </a:p>
        </p:txBody>
      </p:sp>
    </p:spTree>
    <p:extLst>
      <p:ext uri="{BB962C8B-B14F-4D97-AF65-F5344CB8AC3E}">
        <p14:creationId xmlns:p14="http://schemas.microsoft.com/office/powerpoint/2010/main" val="3011742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2FD3-EE35-8872-4BD6-B26BCE6A9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2F616-6EE7-F6CE-C8E1-295724C69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1D852-2917-1AB2-95BA-52EF37267419}"/>
              </a:ext>
            </a:extLst>
          </p:cNvPr>
          <p:cNvSpPr>
            <a:spLocks noGrp="1"/>
          </p:cNvSpPr>
          <p:nvPr>
            <p:ph type="body" idx="1"/>
          </p:nvPr>
        </p:nvSpPr>
        <p:spPr/>
        <p:txBody>
          <a:bodyPr/>
          <a:lstStyle/>
          <a:p>
            <a:r>
              <a:rPr lang="en-US" dirty="0"/>
              <a:t>Many people took years to learn to program in assembly, how to program well in C, what OOO is, how to use Python and the ecosystem. But are picking up generative coding </a:t>
            </a:r>
            <a:r>
              <a:rPr lang="en-US"/>
              <a:t>tools essentially </a:t>
            </a:r>
            <a:r>
              <a:rPr lang="en-US" dirty="0"/>
              <a:t>immediately.</a:t>
            </a:r>
          </a:p>
        </p:txBody>
      </p:sp>
      <p:sp>
        <p:nvSpPr>
          <p:cNvPr id="4" name="Slide Number Placeholder 3">
            <a:extLst>
              <a:ext uri="{FF2B5EF4-FFF2-40B4-BE49-F238E27FC236}">
                <a16:creationId xmlns:a16="http://schemas.microsoft.com/office/drawing/2014/main" id="{81564DA4-886E-536D-F4EA-2A9A4461AB13}"/>
              </a:ext>
            </a:extLst>
          </p:cNvPr>
          <p:cNvSpPr>
            <a:spLocks noGrp="1"/>
          </p:cNvSpPr>
          <p:nvPr>
            <p:ph type="sldNum" sz="quarter" idx="5"/>
          </p:nvPr>
        </p:nvSpPr>
        <p:spPr/>
        <p:txBody>
          <a:bodyPr/>
          <a:lstStyle/>
          <a:p>
            <a:fld id="{D6F572DD-A90C-48FE-985E-BF1B77401B26}" type="slidenum">
              <a:rPr lang="en-US" smtClean="0"/>
              <a:t>9</a:t>
            </a:fld>
            <a:endParaRPr lang="en-US"/>
          </a:p>
        </p:txBody>
      </p:sp>
    </p:spTree>
    <p:extLst>
      <p:ext uri="{BB962C8B-B14F-4D97-AF65-F5344CB8AC3E}">
        <p14:creationId xmlns:p14="http://schemas.microsoft.com/office/powerpoint/2010/main" val="2215575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From “Attention Is All You Need” - paper</a:t>
            </a:r>
          </a:p>
          <a:p>
            <a:endParaRPr lang="en-US" dirty="0"/>
          </a:p>
        </p:txBody>
      </p:sp>
      <p:sp>
        <p:nvSpPr>
          <p:cNvPr id="4" name="Slide Number Placeholder 3"/>
          <p:cNvSpPr>
            <a:spLocks noGrp="1"/>
          </p:cNvSpPr>
          <p:nvPr>
            <p:ph type="sldNum" sz="quarter" idx="5"/>
          </p:nvPr>
        </p:nvSpPr>
        <p:spPr/>
        <p:txBody>
          <a:bodyPr/>
          <a:lstStyle/>
          <a:p>
            <a:fld id="{D6F572DD-A90C-48FE-985E-BF1B77401B26}" type="slidenum">
              <a:rPr lang="en-US" smtClean="0"/>
              <a:t>10</a:t>
            </a:fld>
            <a:endParaRPr lang="en-US"/>
          </a:p>
        </p:txBody>
      </p:sp>
    </p:spTree>
    <p:extLst>
      <p:ext uri="{BB962C8B-B14F-4D97-AF65-F5344CB8AC3E}">
        <p14:creationId xmlns:p14="http://schemas.microsoft.com/office/powerpoint/2010/main" val="2689549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people took years to learn to program in assembly, how to program well in C, what OOO is, how to use Python and the ecosystem. But are picking up generative coding </a:t>
            </a:r>
            <a:r>
              <a:rPr lang="en-US"/>
              <a:t>tools essentially </a:t>
            </a:r>
            <a:r>
              <a:rPr lang="en-US" dirty="0"/>
              <a:t>immediately.</a:t>
            </a:r>
          </a:p>
        </p:txBody>
      </p:sp>
      <p:sp>
        <p:nvSpPr>
          <p:cNvPr id="4" name="Slide Number Placeholder 3"/>
          <p:cNvSpPr>
            <a:spLocks noGrp="1"/>
          </p:cNvSpPr>
          <p:nvPr>
            <p:ph type="sldNum" sz="quarter" idx="5"/>
          </p:nvPr>
        </p:nvSpPr>
        <p:spPr/>
        <p:txBody>
          <a:bodyPr/>
          <a:lstStyle/>
          <a:p>
            <a:fld id="{D6F572DD-A90C-48FE-985E-BF1B77401B26}" type="slidenum">
              <a:rPr lang="en-US" smtClean="0"/>
              <a:t>11</a:t>
            </a:fld>
            <a:endParaRPr lang="en-US"/>
          </a:p>
        </p:txBody>
      </p:sp>
    </p:spTree>
    <p:extLst>
      <p:ext uri="{BB962C8B-B14F-4D97-AF65-F5344CB8AC3E}">
        <p14:creationId xmlns:p14="http://schemas.microsoft.com/office/powerpoint/2010/main" val="4267351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gif"/><Relationship Id="rId7" Type="http://schemas.openxmlformats.org/officeDocument/2006/relationships/image" Target="../media/image6.jpeg"/><Relationship Id="rId2" Type="http://schemas.openxmlformats.org/officeDocument/2006/relationships/image" Target="../media/image1.gif"/><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gif"/><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7.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gif"/><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jamesabel/songstem"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58E24-A20F-AC99-7035-1400A4B7B9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ADBF27-5585-6268-C5F7-41A844843337}"/>
              </a:ext>
            </a:extLst>
          </p:cNvPr>
          <p:cNvSpPr txBox="1"/>
          <p:nvPr/>
        </p:nvSpPr>
        <p:spPr>
          <a:xfrm>
            <a:off x="1213069" y="1180464"/>
            <a:ext cx="10247101" cy="5088573"/>
          </a:xfrm>
          <a:prstGeom prst="rect">
            <a:avLst/>
          </a:prstGeom>
          <a:noFill/>
        </p:spPr>
        <p:txBody>
          <a:bodyPr wrap="square" lIns="76200" tIns="50800" rIns="76200" bIns="50800" anchor="ctr">
            <a:spAutoFit/>
          </a:bodyPr>
          <a:lstStyle/>
          <a:p>
            <a:pPr algn="l"/>
            <a:r>
              <a:rPr lang="en-US" sz="5400" b="1" dirty="0">
                <a:solidFill>
                  <a:srgbClr val="2563EB"/>
                </a:solidFill>
                <a:latin typeface="Segoe UI"/>
              </a:rPr>
              <a:t>How Python and AI helped keep me from getting thrown out of a saloon</a:t>
            </a:r>
          </a:p>
          <a:p>
            <a:pPr algn="l"/>
            <a:endParaRPr lang="en-US" sz="5400" b="1" dirty="0">
              <a:solidFill>
                <a:srgbClr val="2563EB"/>
              </a:solidFill>
              <a:latin typeface="Segoe UI"/>
            </a:endParaRPr>
          </a:p>
          <a:p>
            <a:pPr algn="l"/>
            <a:r>
              <a:rPr lang="en-US" sz="5400" b="1" dirty="0">
                <a:solidFill>
                  <a:srgbClr val="2563EB"/>
                </a:solidFill>
                <a:latin typeface="Segoe UI"/>
              </a:rPr>
              <a:t>James Abel</a:t>
            </a:r>
          </a:p>
          <a:p>
            <a:pPr algn="l"/>
            <a:r>
              <a:rPr lang="en-US" sz="5400" b="1" dirty="0">
                <a:solidFill>
                  <a:srgbClr val="2563EB"/>
                </a:solidFill>
                <a:latin typeface="Segoe UI"/>
              </a:rPr>
              <a:t>8/27/26</a:t>
            </a:r>
            <a:endParaRPr sz="5400" b="1" dirty="0">
              <a:solidFill>
                <a:srgbClr val="2563EB"/>
              </a:solidFill>
              <a:latin typeface="Segoe UI"/>
            </a:endParaRPr>
          </a:p>
        </p:txBody>
      </p:sp>
    </p:spTree>
    <p:extLst>
      <p:ext uri="{BB962C8B-B14F-4D97-AF65-F5344CB8AC3E}">
        <p14:creationId xmlns:p14="http://schemas.microsoft.com/office/powerpoint/2010/main" val="178784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08C3A-B2DE-6345-2409-0ECE94C3563F}"/>
            </a:ext>
          </a:extLst>
        </p:cNvPr>
        <p:cNvGrpSpPr/>
        <p:nvPr/>
      </p:nvGrpSpPr>
      <p:grpSpPr>
        <a:xfrm>
          <a:off x="0" y="0"/>
          <a:ext cx="0" cy="0"/>
          <a:chOff x="0" y="0"/>
          <a:chExt cx="0" cy="0"/>
        </a:xfrm>
      </p:grpSpPr>
      <p:pic>
        <p:nvPicPr>
          <p:cNvPr id="19" name="Picture 18" descr="Crystal Radio with Loop Antenna">
            <a:extLst>
              <a:ext uri="{FF2B5EF4-FFF2-40B4-BE49-F238E27FC236}">
                <a16:creationId xmlns:a16="http://schemas.microsoft.com/office/drawing/2014/main" id="{B504D746-FD8D-3821-3F99-0F833533F582}"/>
              </a:ext>
            </a:extLst>
          </p:cNvPr>
          <p:cNvPicPr>
            <a:picLocks noChangeAspect="1"/>
          </p:cNvPicPr>
          <p:nvPr/>
        </p:nvPicPr>
        <p:blipFill>
          <a:blip r:embed="rId2"/>
          <a:stretch>
            <a:fillRect/>
          </a:stretch>
        </p:blipFill>
        <p:spPr>
          <a:xfrm>
            <a:off x="596708" y="921691"/>
            <a:ext cx="1459822" cy="1392664"/>
          </a:xfrm>
          <a:prstGeom prst="rect">
            <a:avLst/>
          </a:prstGeom>
        </p:spPr>
      </p:pic>
      <p:sp>
        <p:nvSpPr>
          <p:cNvPr id="2" name="TextBox 1">
            <a:extLst>
              <a:ext uri="{FF2B5EF4-FFF2-40B4-BE49-F238E27FC236}">
                <a16:creationId xmlns:a16="http://schemas.microsoft.com/office/drawing/2014/main" id="{81AA7B8A-110F-21AF-C3CA-8B4E9CEAF4AD}"/>
              </a:ext>
            </a:extLst>
          </p:cNvPr>
          <p:cNvSpPr txBox="1"/>
          <p:nvPr/>
        </p:nvSpPr>
        <p:spPr>
          <a:xfrm>
            <a:off x="316129" y="93478"/>
            <a:ext cx="5874690" cy="718145"/>
          </a:xfrm>
          <a:prstGeom prst="rect">
            <a:avLst/>
          </a:prstGeom>
          <a:noFill/>
        </p:spPr>
        <p:txBody>
          <a:bodyPr wrap="square" lIns="76200" tIns="50800" rIns="76200" bIns="50800" anchor="ctr">
            <a:spAutoFit/>
          </a:bodyPr>
          <a:lstStyle/>
          <a:p>
            <a:pPr algn="l"/>
            <a:r>
              <a:rPr lang="en-US" sz="4000" b="1" dirty="0">
                <a:solidFill>
                  <a:srgbClr val="2563EB"/>
                </a:solidFill>
                <a:latin typeface="Segoe UI"/>
              </a:rPr>
              <a:t>My Journey …</a:t>
            </a:r>
            <a:endParaRPr sz="4000" b="1" dirty="0">
              <a:solidFill>
                <a:srgbClr val="2563EB"/>
              </a:solidFill>
              <a:latin typeface="Segoe UI"/>
            </a:endParaRPr>
          </a:p>
        </p:txBody>
      </p:sp>
      <p:pic>
        <p:nvPicPr>
          <p:cNvPr id="3" name="Picture 2" descr="Simple Audio amplifier Using Transistors">
            <a:extLst>
              <a:ext uri="{FF2B5EF4-FFF2-40B4-BE49-F238E27FC236}">
                <a16:creationId xmlns:a16="http://schemas.microsoft.com/office/drawing/2014/main" id="{481A1721-492C-9F82-AF66-9BF67C8EB32F}"/>
              </a:ext>
            </a:extLst>
          </p:cNvPr>
          <p:cNvPicPr>
            <a:picLocks noChangeAspect="1"/>
          </p:cNvPicPr>
          <p:nvPr/>
        </p:nvPicPr>
        <p:blipFill>
          <a:blip r:embed="rId3"/>
          <a:stretch>
            <a:fillRect/>
          </a:stretch>
        </p:blipFill>
        <p:spPr>
          <a:xfrm>
            <a:off x="773604" y="1907019"/>
            <a:ext cx="1842959" cy="1392664"/>
          </a:xfrm>
          <a:prstGeom prst="rect">
            <a:avLst/>
          </a:prstGeom>
        </p:spPr>
      </p:pic>
      <p:pic>
        <p:nvPicPr>
          <p:cNvPr id="4" name="Picture 3" descr="Schematic for a Full Adder Circuit">
            <a:extLst>
              <a:ext uri="{FF2B5EF4-FFF2-40B4-BE49-F238E27FC236}">
                <a16:creationId xmlns:a16="http://schemas.microsoft.com/office/drawing/2014/main" id="{5E0D55E0-E7B4-317C-C039-B30616BF8061}"/>
              </a:ext>
            </a:extLst>
          </p:cNvPr>
          <p:cNvPicPr>
            <a:picLocks noChangeAspect="1"/>
          </p:cNvPicPr>
          <p:nvPr/>
        </p:nvPicPr>
        <p:blipFill>
          <a:blip r:embed="rId4"/>
          <a:stretch>
            <a:fillRect/>
          </a:stretch>
        </p:blipFill>
        <p:spPr>
          <a:xfrm>
            <a:off x="3833209" y="1745920"/>
            <a:ext cx="3093542" cy="1428951"/>
          </a:xfrm>
          <a:prstGeom prst="rect">
            <a:avLst/>
          </a:prstGeom>
        </p:spPr>
      </p:pic>
      <p:pic>
        <p:nvPicPr>
          <p:cNvPr id="6" name="Picture 5">
            <a:extLst>
              <a:ext uri="{FF2B5EF4-FFF2-40B4-BE49-F238E27FC236}">
                <a16:creationId xmlns:a16="http://schemas.microsoft.com/office/drawing/2014/main" id="{37537E27-DD7D-2370-E71E-D8F27AA1DEEA}"/>
              </a:ext>
            </a:extLst>
          </p:cNvPr>
          <p:cNvPicPr>
            <a:picLocks noChangeAspect="1"/>
          </p:cNvPicPr>
          <p:nvPr/>
        </p:nvPicPr>
        <p:blipFill>
          <a:blip r:embed="rId5"/>
          <a:stretch>
            <a:fillRect/>
          </a:stretch>
        </p:blipFill>
        <p:spPr>
          <a:xfrm>
            <a:off x="8177093" y="1000418"/>
            <a:ext cx="2520402" cy="2374292"/>
          </a:xfrm>
          <a:prstGeom prst="rect">
            <a:avLst/>
          </a:prstGeom>
        </p:spPr>
      </p:pic>
      <p:cxnSp>
        <p:nvCxnSpPr>
          <p:cNvPr id="8" name="Straight Arrow Connector 7">
            <a:extLst>
              <a:ext uri="{FF2B5EF4-FFF2-40B4-BE49-F238E27FC236}">
                <a16:creationId xmlns:a16="http://schemas.microsoft.com/office/drawing/2014/main" id="{C93B0FB7-33FA-7F9A-C48D-A7F58143321E}"/>
              </a:ext>
            </a:extLst>
          </p:cNvPr>
          <p:cNvCxnSpPr>
            <a:cxnSpLocks/>
          </p:cNvCxnSpPr>
          <p:nvPr/>
        </p:nvCxnSpPr>
        <p:spPr>
          <a:xfrm>
            <a:off x="2719992" y="2425072"/>
            <a:ext cx="962283"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2D9358A-8D1C-A86F-C40E-92CAAD71580C}"/>
              </a:ext>
            </a:extLst>
          </p:cNvPr>
          <p:cNvCxnSpPr/>
          <p:nvPr/>
        </p:nvCxnSpPr>
        <p:spPr>
          <a:xfrm>
            <a:off x="6900225" y="2373904"/>
            <a:ext cx="1132556"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066BF92-D3F2-B415-6141-E0D2620939C3}"/>
              </a:ext>
            </a:extLst>
          </p:cNvPr>
          <p:cNvCxnSpPr/>
          <p:nvPr/>
        </p:nvCxnSpPr>
        <p:spPr>
          <a:xfrm>
            <a:off x="721311" y="5166415"/>
            <a:ext cx="1132556"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301109BB-E0E8-EDE4-FEB0-2C07D0819B5C}"/>
              </a:ext>
            </a:extLst>
          </p:cNvPr>
          <p:cNvPicPr>
            <a:picLocks noChangeAspect="1"/>
          </p:cNvPicPr>
          <p:nvPr/>
        </p:nvPicPr>
        <p:blipFill>
          <a:blip r:embed="rId6"/>
          <a:stretch>
            <a:fillRect/>
          </a:stretch>
        </p:blipFill>
        <p:spPr>
          <a:xfrm>
            <a:off x="2056530" y="4470217"/>
            <a:ext cx="1459822" cy="1736591"/>
          </a:xfrm>
          <a:prstGeom prst="rect">
            <a:avLst/>
          </a:prstGeom>
        </p:spPr>
      </p:pic>
      <p:pic>
        <p:nvPicPr>
          <p:cNvPr id="15" name="Picture 14" descr="Gang of 4 Design Patterns Explained: Creational, Structural, and Behavioral  | DigitalOcean">
            <a:extLst>
              <a:ext uri="{FF2B5EF4-FFF2-40B4-BE49-F238E27FC236}">
                <a16:creationId xmlns:a16="http://schemas.microsoft.com/office/drawing/2014/main" id="{F9B08632-B4D3-90ED-F338-1278934D3BC6}"/>
              </a:ext>
            </a:extLst>
          </p:cNvPr>
          <p:cNvPicPr>
            <a:picLocks noChangeAspect="1"/>
          </p:cNvPicPr>
          <p:nvPr/>
        </p:nvPicPr>
        <p:blipFill>
          <a:blip r:embed="rId7"/>
          <a:stretch>
            <a:fillRect/>
          </a:stretch>
        </p:blipFill>
        <p:spPr>
          <a:xfrm>
            <a:off x="4900760" y="4363191"/>
            <a:ext cx="1544515" cy="1950642"/>
          </a:xfrm>
          <a:prstGeom prst="rect">
            <a:avLst/>
          </a:prstGeom>
        </p:spPr>
      </p:pic>
      <p:cxnSp>
        <p:nvCxnSpPr>
          <p:cNvPr id="16" name="Straight Arrow Connector 15">
            <a:extLst>
              <a:ext uri="{FF2B5EF4-FFF2-40B4-BE49-F238E27FC236}">
                <a16:creationId xmlns:a16="http://schemas.microsoft.com/office/drawing/2014/main" id="{921FBA9D-936F-AF9D-BE2B-A66463730116}"/>
              </a:ext>
            </a:extLst>
          </p:cNvPr>
          <p:cNvCxnSpPr/>
          <p:nvPr/>
        </p:nvCxnSpPr>
        <p:spPr>
          <a:xfrm>
            <a:off x="3680035" y="5338512"/>
            <a:ext cx="1132556"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pic>
        <p:nvPicPr>
          <p:cNvPr id="17" name="Picture 16" descr="python™">
            <a:extLst>
              <a:ext uri="{FF2B5EF4-FFF2-40B4-BE49-F238E27FC236}">
                <a16:creationId xmlns:a16="http://schemas.microsoft.com/office/drawing/2014/main" id="{97CF95C4-96EF-C39A-D689-9DA2657261F6}"/>
              </a:ext>
            </a:extLst>
          </p:cNvPr>
          <p:cNvPicPr>
            <a:picLocks noChangeAspect="1"/>
          </p:cNvPicPr>
          <p:nvPr/>
        </p:nvPicPr>
        <p:blipFill>
          <a:blip r:embed="rId8"/>
          <a:stretch>
            <a:fillRect/>
          </a:stretch>
        </p:blipFill>
        <p:spPr>
          <a:xfrm>
            <a:off x="8032781" y="4138787"/>
            <a:ext cx="3676051" cy="1039435"/>
          </a:xfrm>
          <a:prstGeom prst="rect">
            <a:avLst/>
          </a:prstGeom>
          <a:solidFill>
            <a:schemeClr val="accent1">
              <a:lumMod val="60000"/>
              <a:lumOff val="40000"/>
            </a:schemeClr>
          </a:solidFill>
        </p:spPr>
      </p:pic>
      <p:cxnSp>
        <p:nvCxnSpPr>
          <p:cNvPr id="18" name="Straight Arrow Connector 17">
            <a:extLst>
              <a:ext uri="{FF2B5EF4-FFF2-40B4-BE49-F238E27FC236}">
                <a16:creationId xmlns:a16="http://schemas.microsoft.com/office/drawing/2014/main" id="{2B136ED8-3712-4B94-7573-172610D2924A}"/>
              </a:ext>
            </a:extLst>
          </p:cNvPr>
          <p:cNvCxnSpPr/>
          <p:nvPr/>
        </p:nvCxnSpPr>
        <p:spPr>
          <a:xfrm>
            <a:off x="6649902" y="5338512"/>
            <a:ext cx="1132556"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CE808B51-6C03-DD59-C0C3-21959E159222}"/>
              </a:ext>
            </a:extLst>
          </p:cNvPr>
          <p:cNvPicPr>
            <a:picLocks noChangeAspect="1"/>
          </p:cNvPicPr>
          <p:nvPr/>
        </p:nvPicPr>
        <p:blipFill>
          <a:blip r:embed="rId9"/>
          <a:stretch>
            <a:fillRect/>
          </a:stretch>
        </p:blipFill>
        <p:spPr>
          <a:xfrm>
            <a:off x="9021388" y="5243205"/>
            <a:ext cx="1544515" cy="1158386"/>
          </a:xfrm>
          <a:prstGeom prst="rect">
            <a:avLst/>
          </a:prstGeom>
          <a:solidFill>
            <a:schemeClr val="accent1">
              <a:lumMod val="40000"/>
              <a:lumOff val="60000"/>
            </a:schemeClr>
          </a:solidFill>
        </p:spPr>
      </p:pic>
      <p:cxnSp>
        <p:nvCxnSpPr>
          <p:cNvPr id="22" name="Straight Arrow Connector 21">
            <a:extLst>
              <a:ext uri="{FF2B5EF4-FFF2-40B4-BE49-F238E27FC236}">
                <a16:creationId xmlns:a16="http://schemas.microsoft.com/office/drawing/2014/main" id="{504B1098-B988-3E65-F6F0-CAE60BB5482F}"/>
              </a:ext>
            </a:extLst>
          </p:cNvPr>
          <p:cNvCxnSpPr>
            <a:cxnSpLocks/>
          </p:cNvCxnSpPr>
          <p:nvPr/>
        </p:nvCxnSpPr>
        <p:spPr>
          <a:xfrm flipV="1">
            <a:off x="721311" y="3833982"/>
            <a:ext cx="0" cy="1387359"/>
          </a:xfrm>
          <a:prstGeom prst="straightConnector1">
            <a:avLst/>
          </a:prstGeom>
          <a:ln w="101600">
            <a:tailEnd type="non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8656AAA-E495-2066-9B54-237B5F99779F}"/>
              </a:ext>
            </a:extLst>
          </p:cNvPr>
          <p:cNvCxnSpPr>
            <a:cxnSpLocks/>
          </p:cNvCxnSpPr>
          <p:nvPr/>
        </p:nvCxnSpPr>
        <p:spPr>
          <a:xfrm flipV="1">
            <a:off x="672591" y="3761263"/>
            <a:ext cx="10745805" cy="23937"/>
          </a:xfrm>
          <a:prstGeom prst="straightConnector1">
            <a:avLst/>
          </a:prstGeom>
          <a:ln w="101600">
            <a:tailEnd type="non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605A7C0D-8239-2166-60DA-AEF950937B80}"/>
              </a:ext>
            </a:extLst>
          </p:cNvPr>
          <p:cNvCxnSpPr>
            <a:cxnSpLocks/>
          </p:cNvCxnSpPr>
          <p:nvPr/>
        </p:nvCxnSpPr>
        <p:spPr>
          <a:xfrm flipV="1">
            <a:off x="11371080" y="2373904"/>
            <a:ext cx="0" cy="1387359"/>
          </a:xfrm>
          <a:prstGeom prst="straightConnector1">
            <a:avLst/>
          </a:prstGeom>
          <a:ln w="101600">
            <a:tailEnd type="non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6244057E-4AFB-85AC-3710-B0E75BB2DB42}"/>
              </a:ext>
            </a:extLst>
          </p:cNvPr>
          <p:cNvCxnSpPr>
            <a:cxnSpLocks/>
          </p:cNvCxnSpPr>
          <p:nvPr/>
        </p:nvCxnSpPr>
        <p:spPr>
          <a:xfrm>
            <a:off x="10907817" y="2382502"/>
            <a:ext cx="510579" cy="0"/>
          </a:xfrm>
          <a:prstGeom prst="straightConnector1">
            <a:avLst/>
          </a:prstGeom>
          <a:ln w="101600">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6825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D6F51-0DFA-9DC8-2146-8E5363EA6D7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662358-AF4C-AA9E-8C26-E66C288A3D99}"/>
              </a:ext>
            </a:extLst>
          </p:cNvPr>
          <p:cNvPicPr>
            <a:picLocks noChangeAspect="1"/>
          </p:cNvPicPr>
          <p:nvPr/>
        </p:nvPicPr>
        <p:blipFill>
          <a:blip r:embed="rId2"/>
          <a:stretch>
            <a:fillRect/>
          </a:stretch>
        </p:blipFill>
        <p:spPr>
          <a:xfrm>
            <a:off x="1664438" y="1596719"/>
            <a:ext cx="5822503" cy="4364590"/>
          </a:xfrm>
          <a:prstGeom prst="rect">
            <a:avLst/>
          </a:prstGeom>
        </p:spPr>
      </p:pic>
      <p:sp>
        <p:nvSpPr>
          <p:cNvPr id="5" name="TextBox 4">
            <a:extLst>
              <a:ext uri="{FF2B5EF4-FFF2-40B4-BE49-F238E27FC236}">
                <a16:creationId xmlns:a16="http://schemas.microsoft.com/office/drawing/2014/main" id="{99F4FA76-38A4-9284-65DC-A1E4A3DF92FF}"/>
              </a:ext>
            </a:extLst>
          </p:cNvPr>
          <p:cNvSpPr txBox="1"/>
          <p:nvPr/>
        </p:nvSpPr>
        <p:spPr>
          <a:xfrm>
            <a:off x="8280657" y="4367768"/>
            <a:ext cx="3004092"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Transposition</a:t>
            </a:r>
          </a:p>
          <a:p>
            <a:pPr marL="285750" indent="-285750">
              <a:buFont typeface="Arial" panose="020B0604020202020204" pitchFamily="34" charset="0"/>
              <a:buChar char="•"/>
            </a:pPr>
            <a:r>
              <a:rPr lang="en-US" sz="2400" dirty="0"/>
              <a:t>Stem Extraction</a:t>
            </a:r>
          </a:p>
          <a:p>
            <a:pPr marL="285750" indent="-285750">
              <a:buFont typeface="Arial" panose="020B0604020202020204" pitchFamily="34" charset="0"/>
              <a:buChar char="•"/>
            </a:pPr>
            <a:r>
              <a:rPr lang="en-US" sz="2400" dirty="0"/>
              <a:t>Stem Solo and Mute</a:t>
            </a:r>
          </a:p>
        </p:txBody>
      </p:sp>
      <p:sp>
        <p:nvSpPr>
          <p:cNvPr id="8" name="TextBox 7">
            <a:extLst>
              <a:ext uri="{FF2B5EF4-FFF2-40B4-BE49-F238E27FC236}">
                <a16:creationId xmlns:a16="http://schemas.microsoft.com/office/drawing/2014/main" id="{017FF46F-D973-3A35-D92A-E0CAE36CE6F6}"/>
              </a:ext>
            </a:extLst>
          </p:cNvPr>
          <p:cNvSpPr txBox="1"/>
          <p:nvPr/>
        </p:nvSpPr>
        <p:spPr>
          <a:xfrm>
            <a:off x="512185" y="315616"/>
            <a:ext cx="10515600" cy="933589"/>
          </a:xfrm>
          <a:prstGeom prst="rect">
            <a:avLst/>
          </a:prstGeom>
          <a:noFill/>
        </p:spPr>
        <p:txBody>
          <a:bodyPr wrap="square" lIns="76200" tIns="50800" rIns="76200" bIns="50800" anchor="ctr">
            <a:spAutoFit/>
          </a:bodyPr>
          <a:lstStyle/>
          <a:p>
            <a:pPr algn="l"/>
            <a:r>
              <a:rPr lang="en-US" sz="5400" b="1" dirty="0">
                <a:solidFill>
                  <a:srgbClr val="2563EB"/>
                </a:solidFill>
                <a:latin typeface="Segoe UI"/>
              </a:rPr>
              <a:t>Set List (song, key)</a:t>
            </a:r>
            <a:endParaRPr sz="5400" b="1" dirty="0">
              <a:solidFill>
                <a:srgbClr val="2563EB"/>
              </a:solidFill>
              <a:latin typeface="Segoe UI"/>
            </a:endParaRPr>
          </a:p>
        </p:txBody>
      </p:sp>
      <p:pic>
        <p:nvPicPr>
          <p:cNvPr id="2" name="Picture 1" descr="May be an image of text that says 'RICK KOENIG PEDAL PEDALSTEEL STEEL C 工里主 華出主 ILAN LADABAUM FIDDLE, LEAD FIDDLE,LEADGUITAR GUITAR MIKE OFIESH VOCALS AND GUITAR JAMES ABEL BASS EST EST.1865 1865 PIONEER LARRY LARRYLUTHI LUTHI DRUMS PIONEER SALOON 2925 WOODSIDE RD. NEXT TO WELLS FARGO BANK AND CHEVRON!'">
            <a:extLst>
              <a:ext uri="{FF2B5EF4-FFF2-40B4-BE49-F238E27FC236}">
                <a16:creationId xmlns:a16="http://schemas.microsoft.com/office/drawing/2014/main" id="{6351722A-8642-13E9-ED45-9ABFC9355251}"/>
              </a:ext>
            </a:extLst>
          </p:cNvPr>
          <p:cNvPicPr>
            <a:picLocks noChangeAspect="1"/>
          </p:cNvPicPr>
          <p:nvPr/>
        </p:nvPicPr>
        <p:blipFill>
          <a:blip r:embed="rId3"/>
          <a:stretch>
            <a:fillRect/>
          </a:stretch>
        </p:blipFill>
        <p:spPr>
          <a:xfrm>
            <a:off x="8345641" y="800977"/>
            <a:ext cx="2478627" cy="3097672"/>
          </a:xfrm>
          <a:prstGeom prst="rect">
            <a:avLst/>
          </a:prstGeom>
        </p:spPr>
      </p:pic>
    </p:spTree>
    <p:extLst>
      <p:ext uri="{BB962C8B-B14F-4D97-AF65-F5344CB8AC3E}">
        <p14:creationId xmlns:p14="http://schemas.microsoft.com/office/powerpoint/2010/main" val="3054762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F4ED3-3A12-0DFB-FE0E-4096386C800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6AB883C-DE99-D841-D4BF-203B5FF92B41}"/>
              </a:ext>
            </a:extLst>
          </p:cNvPr>
          <p:cNvPicPr>
            <a:picLocks noChangeAspect="1"/>
          </p:cNvPicPr>
          <p:nvPr/>
        </p:nvPicPr>
        <p:blipFill>
          <a:blip r:embed="rId2"/>
          <a:stretch>
            <a:fillRect/>
          </a:stretch>
        </p:blipFill>
        <p:spPr>
          <a:xfrm>
            <a:off x="556994" y="934869"/>
            <a:ext cx="4847039" cy="2834129"/>
          </a:xfrm>
          <a:prstGeom prst="rect">
            <a:avLst/>
          </a:prstGeom>
        </p:spPr>
      </p:pic>
      <p:pic>
        <p:nvPicPr>
          <p:cNvPr id="8" name="Picture 7">
            <a:extLst>
              <a:ext uri="{FF2B5EF4-FFF2-40B4-BE49-F238E27FC236}">
                <a16:creationId xmlns:a16="http://schemas.microsoft.com/office/drawing/2014/main" id="{FC986A86-9997-058B-8925-398FCEE92BCB}"/>
              </a:ext>
            </a:extLst>
          </p:cNvPr>
          <p:cNvPicPr>
            <a:picLocks noChangeAspect="1"/>
          </p:cNvPicPr>
          <p:nvPr/>
        </p:nvPicPr>
        <p:blipFill>
          <a:blip r:embed="rId3"/>
          <a:stretch>
            <a:fillRect/>
          </a:stretch>
        </p:blipFill>
        <p:spPr>
          <a:xfrm>
            <a:off x="7018009" y="970618"/>
            <a:ext cx="2438525" cy="1416123"/>
          </a:xfrm>
          <a:prstGeom prst="rect">
            <a:avLst/>
          </a:prstGeom>
        </p:spPr>
      </p:pic>
      <p:pic>
        <p:nvPicPr>
          <p:cNvPr id="10" name="Picture 9">
            <a:extLst>
              <a:ext uri="{FF2B5EF4-FFF2-40B4-BE49-F238E27FC236}">
                <a16:creationId xmlns:a16="http://schemas.microsoft.com/office/drawing/2014/main" id="{68F7D480-3904-8300-41A9-1732F41F9431}"/>
              </a:ext>
            </a:extLst>
          </p:cNvPr>
          <p:cNvPicPr>
            <a:picLocks noChangeAspect="1"/>
          </p:cNvPicPr>
          <p:nvPr/>
        </p:nvPicPr>
        <p:blipFill>
          <a:blip r:embed="rId4"/>
          <a:stretch>
            <a:fillRect/>
          </a:stretch>
        </p:blipFill>
        <p:spPr>
          <a:xfrm>
            <a:off x="7211885" y="2554268"/>
            <a:ext cx="3988005" cy="1295467"/>
          </a:xfrm>
          <a:prstGeom prst="rect">
            <a:avLst/>
          </a:prstGeom>
        </p:spPr>
      </p:pic>
      <p:pic>
        <p:nvPicPr>
          <p:cNvPr id="11" name="Picture 10" descr="Padlock Gold Clip Art - Best WEB Clipart">
            <a:extLst>
              <a:ext uri="{FF2B5EF4-FFF2-40B4-BE49-F238E27FC236}">
                <a16:creationId xmlns:a16="http://schemas.microsoft.com/office/drawing/2014/main" id="{A085285B-243D-72BE-4DFD-137814DA6644}"/>
              </a:ext>
            </a:extLst>
          </p:cNvPr>
          <p:cNvPicPr>
            <a:picLocks noChangeAspect="1"/>
          </p:cNvPicPr>
          <p:nvPr/>
        </p:nvPicPr>
        <p:blipFill>
          <a:blip r:embed="rId5"/>
          <a:stretch>
            <a:fillRect/>
          </a:stretch>
        </p:blipFill>
        <p:spPr>
          <a:xfrm>
            <a:off x="4488575" y="3355174"/>
            <a:ext cx="2260347" cy="3024889"/>
          </a:xfrm>
          <a:prstGeom prst="rect">
            <a:avLst/>
          </a:prstGeom>
        </p:spPr>
      </p:pic>
    </p:spTree>
    <p:extLst>
      <p:ext uri="{BB962C8B-B14F-4D97-AF65-F5344CB8AC3E}">
        <p14:creationId xmlns:p14="http://schemas.microsoft.com/office/powerpoint/2010/main" val="3036583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BCFB6-A5BA-391A-6C9A-37F53A2631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EAE219-E399-9E58-973C-F2BEEF55765C}"/>
              </a:ext>
            </a:extLst>
          </p:cNvPr>
          <p:cNvSpPr txBox="1"/>
          <p:nvPr/>
        </p:nvSpPr>
        <p:spPr>
          <a:xfrm>
            <a:off x="168705" y="246006"/>
            <a:ext cx="10515600" cy="933589"/>
          </a:xfrm>
          <a:prstGeom prst="rect">
            <a:avLst/>
          </a:prstGeom>
          <a:noFill/>
        </p:spPr>
        <p:txBody>
          <a:bodyPr wrap="square" lIns="76200" tIns="50800" rIns="76200" bIns="50800" anchor="ctr">
            <a:spAutoFit/>
          </a:bodyPr>
          <a:lstStyle/>
          <a:p>
            <a:pPr algn="l"/>
            <a:r>
              <a:rPr lang="en-US" sz="5400" b="1" dirty="0" err="1">
                <a:solidFill>
                  <a:srgbClr val="2563EB"/>
                </a:solidFill>
                <a:latin typeface="Segoe UI"/>
              </a:rPr>
              <a:t>Songstem</a:t>
            </a:r>
            <a:r>
              <a:rPr lang="en-US" sz="5400" b="1" dirty="0">
                <a:solidFill>
                  <a:srgbClr val="2563EB"/>
                </a:solidFill>
                <a:latin typeface="Segoe UI"/>
              </a:rPr>
              <a:t> Demo</a:t>
            </a:r>
            <a:endParaRPr sz="5400" b="1" dirty="0">
              <a:solidFill>
                <a:srgbClr val="2563EB"/>
              </a:solidFill>
              <a:latin typeface="Segoe UI"/>
            </a:endParaRPr>
          </a:p>
        </p:txBody>
      </p:sp>
      <p:pic>
        <p:nvPicPr>
          <p:cNvPr id="4" name="Picture 3">
            <a:extLst>
              <a:ext uri="{FF2B5EF4-FFF2-40B4-BE49-F238E27FC236}">
                <a16:creationId xmlns:a16="http://schemas.microsoft.com/office/drawing/2014/main" id="{BBF96038-43CC-1D7B-8DA4-BF880C93B3A3}"/>
              </a:ext>
            </a:extLst>
          </p:cNvPr>
          <p:cNvPicPr>
            <a:picLocks noChangeAspect="1"/>
          </p:cNvPicPr>
          <p:nvPr/>
        </p:nvPicPr>
        <p:blipFill>
          <a:blip r:embed="rId2"/>
          <a:stretch>
            <a:fillRect/>
          </a:stretch>
        </p:blipFill>
        <p:spPr>
          <a:xfrm>
            <a:off x="2613234" y="1619819"/>
            <a:ext cx="6760877" cy="4764736"/>
          </a:xfrm>
          <a:prstGeom prst="rect">
            <a:avLst/>
          </a:prstGeom>
        </p:spPr>
      </p:pic>
      <p:pic>
        <p:nvPicPr>
          <p:cNvPr id="6" name="Picture 5">
            <a:extLst>
              <a:ext uri="{FF2B5EF4-FFF2-40B4-BE49-F238E27FC236}">
                <a16:creationId xmlns:a16="http://schemas.microsoft.com/office/drawing/2014/main" id="{222E64C6-D689-A6DE-AD9B-778DCE13FF2A}"/>
              </a:ext>
            </a:extLst>
          </p:cNvPr>
          <p:cNvPicPr>
            <a:picLocks noChangeAspect="1"/>
          </p:cNvPicPr>
          <p:nvPr/>
        </p:nvPicPr>
        <p:blipFill>
          <a:blip r:embed="rId3"/>
          <a:stretch>
            <a:fillRect/>
          </a:stretch>
        </p:blipFill>
        <p:spPr>
          <a:xfrm>
            <a:off x="10217917" y="334777"/>
            <a:ext cx="1151123" cy="1151123"/>
          </a:xfrm>
          <a:prstGeom prst="rect">
            <a:avLst/>
          </a:prstGeom>
        </p:spPr>
      </p:pic>
    </p:spTree>
    <p:extLst>
      <p:ext uri="{BB962C8B-B14F-4D97-AF65-F5344CB8AC3E}">
        <p14:creationId xmlns:p14="http://schemas.microsoft.com/office/powerpoint/2010/main" val="2971920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051560"/>
            <a:ext cx="10515600" cy="914400"/>
          </a:xfrm>
          <a:prstGeom prst="rect">
            <a:avLst/>
          </a:prstGeom>
          <a:noFill/>
        </p:spPr>
        <p:txBody>
          <a:bodyPr wrap="square" lIns="76200" tIns="50800" rIns="76200" bIns="50800" anchor="ctr">
            <a:spAutoFit/>
          </a:bodyPr>
          <a:lstStyle/>
          <a:p>
            <a:pPr algn="l"/>
            <a:r>
              <a:rPr sz="5400" b="1" dirty="0" err="1">
                <a:solidFill>
                  <a:srgbClr val="2563EB"/>
                </a:solidFill>
                <a:latin typeface="Segoe UI"/>
              </a:rPr>
              <a:t>Songstem</a:t>
            </a:r>
            <a:endParaRPr sz="5400" b="1" dirty="0">
              <a:solidFill>
                <a:srgbClr val="2563EB"/>
              </a:solidFill>
              <a:latin typeface="Segoe UI"/>
            </a:endParaRPr>
          </a:p>
        </p:txBody>
      </p:sp>
      <p:sp>
        <p:nvSpPr>
          <p:cNvPr id="3" name="TextBox 2"/>
          <p:cNvSpPr txBox="1"/>
          <p:nvPr/>
        </p:nvSpPr>
        <p:spPr>
          <a:xfrm>
            <a:off x="822960" y="1965960"/>
            <a:ext cx="10515600" cy="457200"/>
          </a:xfrm>
          <a:prstGeom prst="rect">
            <a:avLst/>
          </a:prstGeom>
          <a:noFill/>
        </p:spPr>
        <p:txBody>
          <a:bodyPr wrap="square" lIns="76200" tIns="50800" rIns="76200" bIns="50800" anchor="ctr">
            <a:spAutoFit/>
          </a:bodyPr>
          <a:lstStyle/>
          <a:p>
            <a:pPr algn="l"/>
            <a:r>
              <a:rPr sz="1900" b="0">
                <a:solidFill>
                  <a:srgbClr val="1F2937"/>
                </a:solidFill>
                <a:latin typeface="Segoe UI"/>
              </a:rPr>
              <a:t>Instrument removal for Apple Music on Windows — batch stem separation for music practice</a:t>
            </a:r>
          </a:p>
        </p:txBody>
      </p:sp>
      <p:sp>
        <p:nvSpPr>
          <p:cNvPr id="4" name="Rounded Rectangle 3"/>
          <p:cNvSpPr/>
          <p:nvPr/>
        </p:nvSpPr>
        <p:spPr>
          <a:xfrm>
            <a:off x="1463040" y="3383280"/>
            <a:ext cx="2651760" cy="1051560"/>
          </a:xfrm>
          <a:prstGeom prst="roundRect">
            <a:avLst>
              <a:gd name="adj" fmla="val 12000"/>
            </a:avLst>
          </a:prstGeom>
          <a:solidFill>
            <a:srgbClr val="F3F4F6"/>
          </a:solidFill>
          <a:ln w="15875">
            <a:solidFill>
              <a:srgbClr val="9CA3AF"/>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600" b="1">
                <a:solidFill>
                  <a:srgbClr val="1F2937"/>
                </a:solidFill>
                <a:latin typeface="Segoe UI"/>
              </a:rPr>
              <a:t>Full mix</a:t>
            </a:r>
          </a:p>
          <a:p>
            <a:pPr algn="ctr"/>
            <a:r>
              <a:rPr sz="1100" b="0">
                <a:solidFill>
                  <a:srgbClr val="6B7280"/>
                </a:solidFill>
                <a:latin typeface="Segoe UI"/>
              </a:rPr>
              <a:t>any song in an iTunes playlist</a:t>
            </a:r>
          </a:p>
        </p:txBody>
      </p:sp>
      <p:sp>
        <p:nvSpPr>
          <p:cNvPr id="5" name="Right Arrow 4"/>
          <p:cNvSpPr/>
          <p:nvPr/>
        </p:nvSpPr>
        <p:spPr>
          <a:xfrm>
            <a:off x="4343400" y="3520440"/>
            <a:ext cx="50292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Arrow 5"/>
          <p:cNvSpPr/>
          <p:nvPr/>
        </p:nvSpPr>
        <p:spPr>
          <a:xfrm>
            <a:off x="4343400" y="4343400"/>
            <a:ext cx="50292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74920" y="3154680"/>
            <a:ext cx="3108960" cy="86868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600" b="1">
                <a:solidFill>
                  <a:srgbClr val="1F2937"/>
                </a:solidFill>
                <a:latin typeface="Segoe UI"/>
              </a:rPr>
              <a:t>Solo</a:t>
            </a:r>
          </a:p>
          <a:p>
            <a:pPr algn="ctr"/>
            <a:r>
              <a:rPr sz="1100" b="0">
                <a:solidFill>
                  <a:srgbClr val="6B7280"/>
                </a:solidFill>
                <a:latin typeface="Segoe UI"/>
              </a:rPr>
              <a:t>the chosen stem, isolated — e.g. bass only</a:t>
            </a:r>
          </a:p>
        </p:txBody>
      </p:sp>
      <p:sp>
        <p:nvSpPr>
          <p:cNvPr id="8" name="Rounded Rectangle 7"/>
          <p:cNvSpPr/>
          <p:nvPr/>
        </p:nvSpPr>
        <p:spPr>
          <a:xfrm>
            <a:off x="5074920" y="4206240"/>
            <a:ext cx="3108960" cy="868680"/>
          </a:xfrm>
          <a:prstGeom prst="roundRect">
            <a:avLst>
              <a:gd name="adj" fmla="val 12000"/>
            </a:avLst>
          </a:prstGeom>
          <a:solidFill>
            <a:srgbClr val="F0FD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600" b="1">
                <a:solidFill>
                  <a:srgbClr val="1F2937"/>
                </a:solidFill>
                <a:latin typeface="Segoe UI"/>
              </a:rPr>
              <a:t>Muted</a:t>
            </a:r>
          </a:p>
          <a:p>
            <a:pPr algn="ctr"/>
            <a:r>
              <a:rPr sz="1100" b="0">
                <a:solidFill>
                  <a:srgbClr val="6B7280"/>
                </a:solidFill>
                <a:latin typeface="Segoe UI"/>
              </a:rPr>
              <a:t>the mix with that stem removed</a:t>
            </a:r>
          </a:p>
        </p:txBody>
      </p:sp>
      <p:sp>
        <p:nvSpPr>
          <p:cNvPr id="9" name="TextBox 8"/>
          <p:cNvSpPr txBox="1"/>
          <p:nvPr/>
        </p:nvSpPr>
        <p:spPr>
          <a:xfrm>
            <a:off x="8503920" y="3566160"/>
            <a:ext cx="2926080" cy="1188720"/>
          </a:xfrm>
          <a:prstGeom prst="rect">
            <a:avLst/>
          </a:prstGeom>
          <a:noFill/>
        </p:spPr>
        <p:txBody>
          <a:bodyPr wrap="square" lIns="76200" tIns="50800" rIns="76200" bIns="50800" anchor="ctr">
            <a:spAutoFit/>
          </a:bodyPr>
          <a:lstStyle/>
          <a:p>
            <a:pPr algn="l"/>
            <a:r>
              <a:rPr sz="1300" b="0">
                <a:solidFill>
                  <a:srgbClr val="6B7280"/>
                </a:solidFill>
                <a:latin typeface="Segoe UI"/>
              </a:rPr>
              <a:t>Play along with the band —</a:t>
            </a:r>
          </a:p>
          <a:p>
            <a:pPr algn="l"/>
            <a:r>
              <a:rPr sz="1300" b="0">
                <a:solidFill>
                  <a:srgbClr val="6B7280"/>
                </a:solidFill>
                <a:latin typeface="Segoe UI"/>
              </a:rPr>
              <a:t>or study your part in isolation.</a:t>
            </a:r>
          </a:p>
        </p:txBody>
      </p:sp>
      <p:sp>
        <p:nvSpPr>
          <p:cNvPr id="10" name="TextBox 9"/>
          <p:cNvSpPr txBox="1"/>
          <p:nvPr/>
        </p:nvSpPr>
        <p:spPr>
          <a:xfrm>
            <a:off x="822960" y="6035040"/>
            <a:ext cx="10515600" cy="365760"/>
          </a:xfrm>
          <a:prstGeom prst="rect">
            <a:avLst/>
          </a:prstGeom>
          <a:noFill/>
        </p:spPr>
        <p:txBody>
          <a:bodyPr wrap="square" lIns="76200" tIns="50800" rIns="76200" bIns="50800" anchor="ctr">
            <a:spAutoFit/>
          </a:bodyPr>
          <a:lstStyle/>
          <a:p>
            <a:pPr algn="l"/>
            <a:r>
              <a:rPr sz="1200" b="0">
                <a:solidFill>
                  <a:srgbClr val="6B7280"/>
                </a:solidFill>
                <a:latin typeface="Segoe UI"/>
              </a:rPr>
              <a:t>Windows · Python · optimized for practice and cover-song rehearsal — quality over latency (batch, not live)</a:t>
            </a:r>
          </a:p>
        </p:txBody>
      </p:sp>
      <p:pic>
        <p:nvPicPr>
          <p:cNvPr id="12" name="Picture 11">
            <a:extLst>
              <a:ext uri="{FF2B5EF4-FFF2-40B4-BE49-F238E27FC236}">
                <a16:creationId xmlns:a16="http://schemas.microsoft.com/office/drawing/2014/main" id="{ACF253DA-970F-B868-103F-49580356C039}"/>
              </a:ext>
            </a:extLst>
          </p:cNvPr>
          <p:cNvPicPr>
            <a:picLocks noChangeAspect="1"/>
          </p:cNvPicPr>
          <p:nvPr/>
        </p:nvPicPr>
        <p:blipFill>
          <a:blip r:embed="rId2"/>
          <a:stretch>
            <a:fillRect/>
          </a:stretch>
        </p:blipFill>
        <p:spPr>
          <a:xfrm>
            <a:off x="10217917" y="334777"/>
            <a:ext cx="1151123" cy="11511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40080"/>
          </a:xfrm>
          <a:prstGeom prst="rect">
            <a:avLst/>
          </a:prstGeom>
          <a:noFill/>
        </p:spPr>
        <p:txBody>
          <a:bodyPr wrap="square" lIns="76200" tIns="50800" rIns="76200" bIns="50800" anchor="ctr">
            <a:spAutoFit/>
          </a:bodyPr>
          <a:lstStyle/>
          <a:p>
            <a:pPr algn="l"/>
            <a:r>
              <a:rPr sz="3000" b="1">
                <a:solidFill>
                  <a:srgbClr val="1F2937"/>
                </a:solidFill>
                <a:latin typeface="Segoe UI"/>
              </a:rPr>
              <a:t>Architecture</a:t>
            </a:r>
          </a:p>
        </p:txBody>
      </p:sp>
      <p:sp>
        <p:nvSpPr>
          <p:cNvPr id="3" name="Rectangle 2"/>
          <p:cNvSpPr/>
          <p:nvPr/>
        </p:nvSpPr>
        <p:spPr>
          <a:xfrm>
            <a:off x="548640" y="896112"/>
            <a:ext cx="1463040" cy="444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87552"/>
            <a:ext cx="11155680" cy="365760"/>
          </a:xfrm>
          <a:prstGeom prst="rect">
            <a:avLst/>
          </a:prstGeom>
          <a:noFill/>
        </p:spPr>
        <p:txBody>
          <a:bodyPr wrap="square" lIns="76200" tIns="50800" rIns="76200" bIns="50800" anchor="ctr">
            <a:spAutoFit/>
          </a:bodyPr>
          <a:lstStyle/>
          <a:p>
            <a:pPr algn="l"/>
            <a:r>
              <a:rPr sz="1400" b="0">
                <a:solidFill>
                  <a:srgbClr val="6B7280"/>
                </a:solidFill>
                <a:latin typeface="Segoe UI"/>
              </a:rPr>
              <a:t>Layered pipeline — every heavy dependency sits behind a swappable seam</a:t>
            </a:r>
          </a:p>
        </p:txBody>
      </p:sp>
      <p:sp>
        <p:nvSpPr>
          <p:cNvPr id="5" name="Rounded Rectangle 4"/>
          <p:cNvSpPr/>
          <p:nvPr/>
        </p:nvSpPr>
        <p:spPr>
          <a:xfrm>
            <a:off x="548640" y="1554480"/>
            <a:ext cx="11109960" cy="68580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250" b="1">
                <a:solidFill>
                  <a:srgbClr val="1F2937"/>
                </a:solidFill>
                <a:latin typeface="Segoe UI"/>
              </a:rPr>
              <a:t>GUI — PySide6 (Qt 6): playlist picker · stem &amp; level controls · progress/Stop · built-in player (Qt Multimedia) · UI state in SQLite (pref)</a:t>
            </a:r>
          </a:p>
        </p:txBody>
      </p:sp>
      <p:sp>
        <p:nvSpPr>
          <p:cNvPr id="6" name="Down Arrow 5"/>
          <p:cNvSpPr/>
          <p:nvPr/>
        </p:nvSpPr>
        <p:spPr>
          <a:xfrm>
            <a:off x="5897880" y="2331720"/>
            <a:ext cx="256032" cy="365760"/>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2788920"/>
            <a:ext cx="2011680" cy="1463040"/>
          </a:xfrm>
          <a:prstGeom prst="roundRect">
            <a:avLst>
              <a:gd name="adj" fmla="val 12000"/>
            </a:avLst>
          </a:prstGeom>
          <a:solidFill>
            <a:srgbClr val="F3F4F6"/>
          </a:solidFill>
          <a:ln w="15875">
            <a:solidFill>
              <a:srgbClr val="9CA3AF"/>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350" b="1">
                <a:solidFill>
                  <a:srgbClr val="1F2937"/>
                </a:solidFill>
                <a:latin typeface="Segoe UI"/>
              </a:rPr>
              <a:t>Playlist source</a:t>
            </a:r>
          </a:p>
          <a:p>
            <a:pPr algn="ctr"/>
            <a:r>
              <a:rPr sz="1050" b="0">
                <a:solidFill>
                  <a:srgbClr val="6B7280"/>
                </a:solidFill>
                <a:latin typeface="Segoe UI"/>
              </a:rPr>
              <a:t>iTunes COM (pywin32)</a:t>
            </a:r>
          </a:p>
          <a:p>
            <a:pPr algn="ctr"/>
            <a:r>
              <a:rPr sz="1050" b="0">
                <a:solidFill>
                  <a:srgbClr val="6B7280"/>
                </a:solidFill>
                <a:latin typeface="Segoe UI"/>
              </a:rPr>
              <a:t>or a folder of WAVs</a:t>
            </a:r>
          </a:p>
        </p:txBody>
      </p:sp>
      <p:sp>
        <p:nvSpPr>
          <p:cNvPr id="8" name="Right Arrow 7"/>
          <p:cNvSpPr/>
          <p:nvPr/>
        </p:nvSpPr>
        <p:spPr>
          <a:xfrm>
            <a:off x="2587752" y="3383280"/>
            <a:ext cx="27432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89504" y="2788920"/>
            <a:ext cx="2011680" cy="146304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350" b="1">
                <a:solidFill>
                  <a:srgbClr val="1F2937"/>
                </a:solidFill>
                <a:latin typeface="Segoe UI"/>
              </a:rPr>
              <a:t>Batch pipeline</a:t>
            </a:r>
          </a:p>
          <a:p>
            <a:pPr algn="ctr"/>
            <a:r>
              <a:rPr sz="1050" b="0">
                <a:solidFill>
                  <a:srgbClr val="6B7280"/>
                </a:solidFill>
                <a:latin typeface="Segoe UI"/>
              </a:rPr>
              <a:t>child process — GUI</a:t>
            </a:r>
          </a:p>
          <a:p>
            <a:pPr algn="ctr"/>
            <a:r>
              <a:rPr sz="1050" b="0">
                <a:solidFill>
                  <a:srgbClr val="6B7280"/>
                </a:solidFill>
                <a:latin typeface="Segoe UI"/>
              </a:rPr>
              <a:t>never stalls; per-song</a:t>
            </a:r>
          </a:p>
          <a:p>
            <a:pPr algn="ctr"/>
            <a:r>
              <a:rPr sz="1050" b="0">
                <a:solidFill>
                  <a:srgbClr val="6B7280"/>
                </a:solidFill>
                <a:latin typeface="Segoe UI"/>
              </a:rPr>
              <a:t>errors don't abort</a:t>
            </a:r>
          </a:p>
        </p:txBody>
      </p:sp>
      <p:sp>
        <p:nvSpPr>
          <p:cNvPr id="10" name="Right Arrow 9"/>
          <p:cNvSpPr/>
          <p:nvPr/>
        </p:nvSpPr>
        <p:spPr>
          <a:xfrm>
            <a:off x="4928616" y="3383280"/>
            <a:ext cx="27432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230368" y="2788920"/>
            <a:ext cx="2011680" cy="1463040"/>
          </a:xfrm>
          <a:prstGeom prst="roundRect">
            <a:avLst>
              <a:gd name="adj" fmla="val 12000"/>
            </a:avLst>
          </a:prstGeom>
          <a:solidFill>
            <a:srgbClr val="F0FD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350" b="1">
                <a:solidFill>
                  <a:srgbClr val="1F2937"/>
                </a:solidFill>
                <a:latin typeface="Segoe UI"/>
              </a:rPr>
              <a:t>Separation backend</a:t>
            </a:r>
          </a:p>
          <a:p>
            <a:pPr algn="ctr"/>
            <a:r>
              <a:rPr sz="1050" b="0">
                <a:solidFill>
                  <a:srgbClr val="6B7280"/>
                </a:solidFill>
                <a:latin typeface="Segoe UI"/>
              </a:rPr>
              <a:t>Demucs (PyTorch, CPU)</a:t>
            </a:r>
          </a:p>
          <a:p>
            <a:pPr algn="ctr"/>
            <a:r>
              <a:rPr sz="1050" b="0">
                <a:solidFill>
                  <a:srgbClr val="6B7280"/>
                </a:solidFill>
                <a:latin typeface="Segoe UI"/>
              </a:rPr>
              <a:t>pluggable via registry —</a:t>
            </a:r>
          </a:p>
          <a:p>
            <a:pPr algn="ctr"/>
            <a:r>
              <a:rPr sz="1050" b="0">
                <a:solidFill>
                  <a:srgbClr val="6B7280"/>
                </a:solidFill>
                <a:latin typeface="Segoe UI"/>
              </a:rPr>
              <a:t>e.g. Open-Unmix</a:t>
            </a:r>
          </a:p>
        </p:txBody>
      </p:sp>
      <p:sp>
        <p:nvSpPr>
          <p:cNvPr id="12" name="Right Arrow 11"/>
          <p:cNvSpPr/>
          <p:nvPr/>
        </p:nvSpPr>
        <p:spPr>
          <a:xfrm>
            <a:off x="7269480" y="3383280"/>
            <a:ext cx="27432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571232" y="2788920"/>
            <a:ext cx="2011680" cy="1463040"/>
          </a:xfrm>
          <a:prstGeom prst="roundRect">
            <a:avLst>
              <a:gd name="adj" fmla="val 12000"/>
            </a:avLst>
          </a:prstGeom>
          <a:solidFill>
            <a:srgbClr val="F0FD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350" b="1">
                <a:solidFill>
                  <a:srgbClr val="1F2937"/>
                </a:solidFill>
                <a:latin typeface="Segoe UI"/>
              </a:rPr>
              <a:t>Mixer</a:t>
            </a:r>
          </a:p>
          <a:p>
            <a:pPr algn="ctr"/>
            <a:r>
              <a:rPr sz="1050" b="0">
                <a:solidFill>
                  <a:srgbClr val="6B7280"/>
                </a:solidFill>
                <a:latin typeface="Segoe UI"/>
              </a:rPr>
              <a:t>pure NumPy —</a:t>
            </a:r>
          </a:p>
          <a:p>
            <a:pPr algn="ctr"/>
            <a:r>
              <a:rPr sz="1050" b="0">
                <a:solidFill>
                  <a:srgbClr val="6B7280"/>
                </a:solidFill>
                <a:latin typeface="Segoe UI"/>
              </a:rPr>
              <a:t>solo &amp; muted sums,</a:t>
            </a:r>
          </a:p>
          <a:p>
            <a:pPr algn="ctr"/>
            <a:r>
              <a:rPr sz="1050" b="0">
                <a:solidFill>
                  <a:srgbClr val="6B7280"/>
                </a:solidFill>
                <a:latin typeface="Segoe UI"/>
              </a:rPr>
              <a:t>per-stem gains</a:t>
            </a:r>
          </a:p>
        </p:txBody>
      </p:sp>
      <p:sp>
        <p:nvSpPr>
          <p:cNvPr id="14" name="Right Arrow 13"/>
          <p:cNvSpPr/>
          <p:nvPr/>
        </p:nvSpPr>
        <p:spPr>
          <a:xfrm>
            <a:off x="9610344" y="3383280"/>
            <a:ext cx="27432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912096" y="2788920"/>
            <a:ext cx="2011680" cy="1463040"/>
          </a:xfrm>
          <a:prstGeom prst="roundRect">
            <a:avLst>
              <a:gd name="adj" fmla="val 12000"/>
            </a:avLst>
          </a:prstGeom>
          <a:solidFill>
            <a:srgbClr val="F3F4F6"/>
          </a:solidFill>
          <a:ln w="15875">
            <a:solidFill>
              <a:srgbClr val="9CA3AF"/>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350" b="1">
                <a:solidFill>
                  <a:srgbClr val="1F2937"/>
                </a:solidFill>
                <a:latin typeface="Segoe UI"/>
              </a:rPr>
              <a:t>Audio I/O</a:t>
            </a:r>
          </a:p>
          <a:p>
            <a:pPr algn="ctr"/>
            <a:r>
              <a:rPr sz="1050" b="0">
                <a:solidFill>
                  <a:srgbClr val="6B7280"/>
                </a:solidFill>
                <a:latin typeface="Segoe UI"/>
              </a:rPr>
              <a:t>soundfile + ffmpeg</a:t>
            </a:r>
          </a:p>
          <a:p>
            <a:pPr algn="ctr"/>
            <a:r>
              <a:rPr sz="1050" b="0">
                <a:solidFill>
                  <a:srgbClr val="6B7280"/>
                </a:solidFill>
                <a:latin typeface="Segoe UI"/>
              </a:rPr>
              <a:t>atomic writes</a:t>
            </a:r>
          </a:p>
          <a:p>
            <a:pPr algn="ctr"/>
            <a:r>
              <a:rPr sz="1050" b="0">
                <a:solidFill>
                  <a:srgbClr val="6B7280"/>
                </a:solidFill>
                <a:latin typeface="Segoe UI"/>
              </a:rPr>
              <a:t>→ WAVs on disk</a:t>
            </a:r>
          </a:p>
        </p:txBody>
      </p:sp>
      <p:sp>
        <p:nvSpPr>
          <p:cNvPr id="16" name="Down Arrow 15"/>
          <p:cNvSpPr/>
          <p:nvPr/>
        </p:nvSpPr>
        <p:spPr>
          <a:xfrm>
            <a:off x="9052560" y="4389120"/>
            <a:ext cx="256032" cy="365760"/>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040880" y="4892040"/>
            <a:ext cx="4617720" cy="105156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300" b="1">
                <a:solidFill>
                  <a:srgbClr val="1F2937"/>
                </a:solidFill>
                <a:latin typeface="Segoe UI"/>
              </a:rPr>
              <a:t>Analysis (best-effort, never fails a job)</a:t>
            </a:r>
          </a:p>
          <a:p>
            <a:pPr algn="ctr"/>
            <a:r>
              <a:rPr sz="1100" b="0">
                <a:solidFill>
                  <a:srgbClr val="6B7280"/>
                </a:solidFill>
                <a:latin typeface="Segoe UI"/>
              </a:rPr>
              <a:t>librosa: key (Krumhansl–Schmuckler) · tempo · note patterns</a:t>
            </a:r>
          </a:p>
          <a:p>
            <a:pPr algn="ctr"/>
            <a:r>
              <a:rPr sz="1100" b="0">
                <a:solidFill>
                  <a:srgbClr val="6B7280"/>
                </a:solidFill>
                <a:latin typeface="Segoe UI"/>
              </a:rPr>
              <a:t>synced lyrics (network) → Markdown cheat sheet</a:t>
            </a:r>
          </a:p>
        </p:txBody>
      </p:sp>
      <p:sp>
        <p:nvSpPr>
          <p:cNvPr id="18" name="TextBox 17"/>
          <p:cNvSpPr txBox="1"/>
          <p:nvPr/>
        </p:nvSpPr>
        <p:spPr>
          <a:xfrm>
            <a:off x="548640" y="5029200"/>
            <a:ext cx="6035040" cy="1005840"/>
          </a:xfrm>
          <a:prstGeom prst="rect">
            <a:avLst/>
          </a:prstGeom>
          <a:noFill/>
        </p:spPr>
        <p:txBody>
          <a:bodyPr wrap="square" lIns="76200" tIns="50800" rIns="76200" bIns="50800" anchor="ctr">
            <a:spAutoFit/>
          </a:bodyPr>
          <a:lstStyle/>
          <a:p>
            <a:pPr algn="l"/>
            <a:r>
              <a:rPr sz="1250" b="1">
                <a:solidFill>
                  <a:srgbClr val="1F2937"/>
                </a:solidFill>
                <a:latin typeface="Segoe UI"/>
              </a:rPr>
              <a:t>Design rule</a:t>
            </a:r>
          </a:p>
          <a:p>
            <a:pPr algn="l"/>
            <a:r>
              <a:rPr sz="1150" b="0">
                <a:solidFill>
                  <a:srgbClr val="6B7280"/>
                </a:solidFill>
                <a:latin typeface="Segoe UI"/>
              </a:rPr>
              <a:t>Heavy/platform imports (Demucs, Qt, COM, soundfile) stay local behind ABCs with in-memory fakes — the core is importable and tested headless.</a:t>
            </a:r>
          </a:p>
        </p:txBody>
      </p:sp>
      <p:pic>
        <p:nvPicPr>
          <p:cNvPr id="20" name="Picture 19">
            <a:extLst>
              <a:ext uri="{FF2B5EF4-FFF2-40B4-BE49-F238E27FC236}">
                <a16:creationId xmlns:a16="http://schemas.microsoft.com/office/drawing/2014/main" id="{5525EDD6-9601-BB29-73C1-37AEAF6EB625}"/>
              </a:ext>
            </a:extLst>
          </p:cNvPr>
          <p:cNvPicPr>
            <a:picLocks noChangeAspect="1"/>
          </p:cNvPicPr>
          <p:nvPr/>
        </p:nvPicPr>
        <p:blipFill>
          <a:blip r:embed="rId2"/>
          <a:stretch>
            <a:fillRect/>
          </a:stretch>
        </p:blipFill>
        <p:spPr>
          <a:xfrm>
            <a:off x="10217917" y="334777"/>
            <a:ext cx="1151123" cy="11511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40080"/>
          </a:xfrm>
          <a:prstGeom prst="rect">
            <a:avLst/>
          </a:prstGeom>
          <a:noFill/>
        </p:spPr>
        <p:txBody>
          <a:bodyPr wrap="square" lIns="76200" tIns="50800" rIns="76200" bIns="50800" anchor="ctr">
            <a:spAutoFit/>
          </a:bodyPr>
          <a:lstStyle/>
          <a:p>
            <a:pPr algn="l"/>
            <a:r>
              <a:rPr sz="3000" b="1">
                <a:solidFill>
                  <a:srgbClr val="1F2937"/>
                </a:solidFill>
                <a:latin typeface="Segoe UI"/>
              </a:rPr>
              <a:t>Underlying technologies</a:t>
            </a:r>
          </a:p>
        </p:txBody>
      </p:sp>
      <p:sp>
        <p:nvSpPr>
          <p:cNvPr id="3" name="Rectangle 2"/>
          <p:cNvSpPr/>
          <p:nvPr/>
        </p:nvSpPr>
        <p:spPr>
          <a:xfrm>
            <a:off x="548640" y="896112"/>
            <a:ext cx="1463040" cy="444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87552"/>
            <a:ext cx="11155680" cy="365760"/>
          </a:xfrm>
          <a:prstGeom prst="rect">
            <a:avLst/>
          </a:prstGeom>
          <a:noFill/>
        </p:spPr>
        <p:txBody>
          <a:bodyPr wrap="square" lIns="76200" tIns="50800" rIns="76200" bIns="50800" anchor="ctr">
            <a:spAutoFit/>
          </a:bodyPr>
          <a:lstStyle/>
          <a:p>
            <a:pPr algn="l"/>
            <a:r>
              <a:rPr sz="1400" b="0">
                <a:solidFill>
                  <a:srgbClr val="6B7280"/>
                </a:solidFill>
                <a:latin typeface="Segoe UI"/>
              </a:rPr>
              <a:t>All Python — Windows x86 desktop, Python 3.14</a:t>
            </a:r>
          </a:p>
        </p:txBody>
      </p:sp>
      <p:sp>
        <p:nvSpPr>
          <p:cNvPr id="5" name="Rounded Rectangle 4"/>
          <p:cNvSpPr/>
          <p:nvPr/>
        </p:nvSpPr>
        <p:spPr>
          <a:xfrm>
            <a:off x="548640" y="1691640"/>
            <a:ext cx="3703320" cy="1965960"/>
          </a:xfrm>
          <a:prstGeom prst="roundRect">
            <a:avLst>
              <a:gd name="adj" fmla="val 12000"/>
            </a:avLst>
          </a:prstGeom>
          <a:solidFill>
            <a:srgbClr val="F0FD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127000" tIns="50800" rIns="76200" bIns="50800" rtlCol="0" anchor="ctr"/>
          <a:lstStyle/>
          <a:p>
            <a:pPr algn="l"/>
            <a:r>
              <a:rPr sz="1400" b="1">
                <a:solidFill>
                  <a:srgbClr val="0D9488"/>
                </a:solidFill>
                <a:latin typeface="Segoe UI"/>
              </a:rPr>
              <a:t>Separation / ML</a:t>
            </a:r>
          </a:p>
          <a:p>
            <a:pPr algn="l"/>
            <a:r>
              <a:rPr sz="1100" b="0">
                <a:solidFill>
                  <a:srgbClr val="1F2937"/>
                </a:solidFill>
                <a:latin typeface="Segoe UI"/>
              </a:rPr>
              <a:t>•  Demucs v4 — hybrid transformer source separation</a:t>
            </a:r>
          </a:p>
          <a:p>
            <a:pPr algn="l"/>
            <a:r>
              <a:rPr sz="1100" b="0">
                <a:solidFill>
                  <a:srgbClr val="1F2937"/>
                </a:solidFill>
                <a:latin typeface="Segoe UI"/>
              </a:rPr>
              <a:t>•  PyTorch, CPU inference (GPU-ready via config)</a:t>
            </a:r>
          </a:p>
          <a:p>
            <a:pPr algn="l"/>
            <a:r>
              <a:rPr sz="1100" b="0">
                <a:solidFill>
                  <a:srgbClr val="1F2937"/>
                </a:solidFill>
                <a:latin typeface="Segoe UI"/>
              </a:rPr>
              <a:t>•  Backend registry → swappable engines</a:t>
            </a:r>
          </a:p>
        </p:txBody>
      </p:sp>
      <p:sp>
        <p:nvSpPr>
          <p:cNvPr id="6" name="Rounded Rectangle 5"/>
          <p:cNvSpPr/>
          <p:nvPr/>
        </p:nvSpPr>
        <p:spPr>
          <a:xfrm>
            <a:off x="4389120" y="1691640"/>
            <a:ext cx="3703320" cy="196596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127000" tIns="50800" rIns="76200" bIns="50800" rtlCol="0" anchor="ctr"/>
          <a:lstStyle/>
          <a:p>
            <a:pPr algn="l"/>
            <a:r>
              <a:rPr sz="1400" b="1">
                <a:solidFill>
                  <a:srgbClr val="2563EB"/>
                </a:solidFill>
                <a:latin typeface="Segoe UI"/>
              </a:rPr>
              <a:t>Desktop UI</a:t>
            </a:r>
          </a:p>
          <a:p>
            <a:pPr algn="l"/>
            <a:r>
              <a:rPr sz="1100" b="0">
                <a:solidFill>
                  <a:srgbClr val="1F2937"/>
                </a:solidFill>
                <a:latin typeface="Segoe UI"/>
              </a:rPr>
              <a:t>•  PySide6 (Qt 6) widgets</a:t>
            </a:r>
          </a:p>
          <a:p>
            <a:pPr algn="l"/>
            <a:r>
              <a:rPr sz="1100" b="0">
                <a:solidFill>
                  <a:srgbClr val="1F2937"/>
                </a:solidFill>
                <a:latin typeface="Segoe UI"/>
              </a:rPr>
              <a:t>•  Qt Multimedia output player</a:t>
            </a:r>
          </a:p>
          <a:p>
            <a:pPr algn="l"/>
            <a:r>
              <a:rPr sz="1100" b="0">
                <a:solidFill>
                  <a:srgbClr val="1F2937"/>
                </a:solidFill>
                <a:latin typeface="Segoe UI"/>
              </a:rPr>
              <a:t>•  QThread workers + child process for heavy work</a:t>
            </a:r>
          </a:p>
        </p:txBody>
      </p:sp>
      <p:sp>
        <p:nvSpPr>
          <p:cNvPr id="7" name="Rounded Rectangle 6"/>
          <p:cNvSpPr/>
          <p:nvPr/>
        </p:nvSpPr>
        <p:spPr>
          <a:xfrm>
            <a:off x="8229600" y="1691640"/>
            <a:ext cx="3703320" cy="1965960"/>
          </a:xfrm>
          <a:prstGeom prst="roundRect">
            <a:avLst>
              <a:gd name="adj" fmla="val 12000"/>
            </a:avLst>
          </a:prstGeom>
          <a:solidFill>
            <a:srgbClr val="F0FD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127000" tIns="50800" rIns="76200" bIns="50800" rtlCol="0" anchor="ctr"/>
          <a:lstStyle/>
          <a:p>
            <a:pPr algn="l"/>
            <a:r>
              <a:rPr sz="1400" b="1">
                <a:solidFill>
                  <a:srgbClr val="0D9488"/>
                </a:solidFill>
                <a:latin typeface="Segoe UI"/>
              </a:rPr>
              <a:t>Audio processing</a:t>
            </a:r>
          </a:p>
          <a:p>
            <a:pPr algn="l"/>
            <a:r>
              <a:rPr sz="1100" b="0">
                <a:solidFill>
                  <a:srgbClr val="1F2937"/>
                </a:solidFill>
                <a:latin typeface="Segoe UI"/>
              </a:rPr>
              <a:t>•  NumPy mixing · soundfile (libsndfile) I/O</a:t>
            </a:r>
          </a:p>
          <a:p>
            <a:pPr algn="l"/>
            <a:r>
              <a:rPr sz="1100" b="0">
                <a:solidFill>
                  <a:srgbClr val="1F2937"/>
                </a:solidFill>
                <a:latin typeface="Segoe UI"/>
              </a:rPr>
              <a:t>•  ffmpeg for AAC/ALAC decode (auto-installed via winget)</a:t>
            </a:r>
          </a:p>
          <a:p>
            <a:pPr algn="l"/>
            <a:r>
              <a:rPr sz="1100" b="0">
                <a:solidFill>
                  <a:srgbClr val="1F2937"/>
                </a:solidFill>
                <a:latin typeface="Segoe UI"/>
              </a:rPr>
              <a:t>•  librosa — key/tempo/note analysis, pitch shifting</a:t>
            </a:r>
          </a:p>
        </p:txBody>
      </p:sp>
      <p:sp>
        <p:nvSpPr>
          <p:cNvPr id="8" name="Rounded Rectangle 7"/>
          <p:cNvSpPr/>
          <p:nvPr/>
        </p:nvSpPr>
        <p:spPr>
          <a:xfrm>
            <a:off x="548640" y="3886200"/>
            <a:ext cx="3703320" cy="196596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127000" tIns="50800" rIns="76200" bIns="50800" rtlCol="0" anchor="ctr"/>
          <a:lstStyle/>
          <a:p>
            <a:pPr algn="l"/>
            <a:r>
              <a:rPr sz="1400" b="1">
                <a:solidFill>
                  <a:srgbClr val="2563EB"/>
                </a:solidFill>
                <a:latin typeface="Segoe UI"/>
              </a:rPr>
              <a:t>Windows integration</a:t>
            </a:r>
          </a:p>
          <a:p>
            <a:pPr algn="l"/>
            <a:r>
              <a:rPr sz="1100" b="0">
                <a:solidFill>
                  <a:srgbClr val="1F2937"/>
                </a:solidFill>
                <a:latin typeface="Segoe UI"/>
              </a:rPr>
              <a:t>•  pywin32 — iTunes/Apple Music COM automation</a:t>
            </a:r>
          </a:p>
          <a:p>
            <a:pPr algn="l"/>
            <a:r>
              <a:rPr sz="1100" b="0">
                <a:solidFill>
                  <a:srgbClr val="1F2937"/>
                </a:solidFill>
                <a:latin typeface="Segoe UI"/>
              </a:rPr>
              <a:t>•  sounddevice + VB-Audio Virtual Cable loopback capture</a:t>
            </a:r>
          </a:p>
          <a:p>
            <a:pPr algn="l"/>
            <a:r>
              <a:rPr sz="1100" b="0">
                <a:solidFill>
                  <a:srgbClr val="1F2937"/>
                </a:solidFill>
                <a:latin typeface="Segoe UI"/>
              </a:rPr>
              <a:t>•  Runs on regular CPython (not free-threaded 3.14t)</a:t>
            </a:r>
          </a:p>
        </p:txBody>
      </p:sp>
      <p:sp>
        <p:nvSpPr>
          <p:cNvPr id="9" name="Rounded Rectangle 8"/>
          <p:cNvSpPr/>
          <p:nvPr/>
        </p:nvSpPr>
        <p:spPr>
          <a:xfrm>
            <a:off x="4389120" y="3886200"/>
            <a:ext cx="3703320" cy="1965960"/>
          </a:xfrm>
          <a:prstGeom prst="roundRect">
            <a:avLst>
              <a:gd name="adj" fmla="val 12000"/>
            </a:avLst>
          </a:prstGeom>
          <a:solidFill>
            <a:srgbClr val="FFFBEB"/>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27000" tIns="50800" rIns="76200" bIns="50800" rtlCol="0" anchor="ctr"/>
          <a:lstStyle/>
          <a:p>
            <a:pPr algn="l"/>
            <a:r>
              <a:rPr sz="1400" b="1">
                <a:solidFill>
                  <a:srgbClr val="B45309"/>
                </a:solidFill>
                <a:latin typeface="Segoe UI"/>
              </a:rPr>
              <a:t>Persistence &amp; state</a:t>
            </a:r>
          </a:p>
          <a:p>
            <a:pPr algn="l"/>
            <a:r>
              <a:rPr sz="1100" b="0">
                <a:solidFill>
                  <a:srgbClr val="1F2937"/>
                </a:solidFill>
                <a:latin typeface="Segoe UI"/>
              </a:rPr>
              <a:t>•  pref — SQLite-backed UI state</a:t>
            </a:r>
          </a:p>
          <a:p>
            <a:pPr algn="l"/>
            <a:r>
              <a:rPr sz="1100" b="0">
                <a:solidFill>
                  <a:srgbClr val="1F2937"/>
                </a:solidFill>
                <a:latin typeface="Segoe UI"/>
              </a:rPr>
              <a:t>•  Remembers playlist, checked songs, pitch, window</a:t>
            </a:r>
          </a:p>
          <a:p>
            <a:pPr algn="l"/>
            <a:r>
              <a:rPr sz="1100" b="0">
                <a:solidFill>
                  <a:srgbClr val="1F2937"/>
                </a:solidFill>
                <a:latin typeface="Segoe UI"/>
              </a:rPr>
              <a:t>•  Atomic file writes for crash-safe outputs</a:t>
            </a:r>
          </a:p>
        </p:txBody>
      </p:sp>
      <p:sp>
        <p:nvSpPr>
          <p:cNvPr id="10" name="Rounded Rectangle 9"/>
          <p:cNvSpPr/>
          <p:nvPr/>
        </p:nvSpPr>
        <p:spPr>
          <a:xfrm>
            <a:off x="8229600" y="3886200"/>
            <a:ext cx="3703320" cy="1965960"/>
          </a:xfrm>
          <a:prstGeom prst="roundRect">
            <a:avLst>
              <a:gd name="adj" fmla="val 12000"/>
            </a:avLst>
          </a:prstGeom>
          <a:solidFill>
            <a:srgbClr val="FFFBEB"/>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27000" tIns="50800" rIns="76200" bIns="50800" rtlCol="0" anchor="ctr"/>
          <a:lstStyle/>
          <a:p>
            <a:pPr algn="l"/>
            <a:r>
              <a:rPr sz="1400" b="1">
                <a:solidFill>
                  <a:srgbClr val="B45309"/>
                </a:solidFill>
                <a:latin typeface="Segoe UI"/>
              </a:rPr>
              <a:t>Quality &amp; tooling</a:t>
            </a:r>
          </a:p>
          <a:p>
            <a:pPr algn="l"/>
            <a:r>
              <a:rPr sz="1100" b="0">
                <a:solidFill>
                  <a:srgbClr val="1F2937"/>
                </a:solidFill>
                <a:latin typeface="Segoe UI"/>
              </a:rPr>
              <a:t>•  pytest suite over the dependency-light core</a:t>
            </a:r>
          </a:p>
          <a:p>
            <a:pPr algn="l"/>
            <a:r>
              <a:rPr sz="1100" b="0">
                <a:solidFill>
                  <a:srgbClr val="1F2937"/>
                </a:solidFill>
                <a:latin typeface="Segoe UI"/>
              </a:rPr>
              <a:t>•  Fakes for iTunes, separation, recording, analysis</a:t>
            </a:r>
          </a:p>
          <a:p>
            <a:pPr algn="l"/>
            <a:r>
              <a:rPr sz="1100" b="0">
                <a:solidFill>
                  <a:srgbClr val="1F2937"/>
                </a:solidFill>
                <a:latin typeface="Segoe UI"/>
              </a:rPr>
              <a:t>•  ruff linting · hatchling packaging</a:t>
            </a:r>
          </a:p>
        </p:txBody>
      </p:sp>
      <p:sp>
        <p:nvSpPr>
          <p:cNvPr id="11" name="TextBox 10"/>
          <p:cNvSpPr txBox="1"/>
          <p:nvPr/>
        </p:nvSpPr>
        <p:spPr>
          <a:xfrm>
            <a:off x="548640" y="5989320"/>
            <a:ext cx="11155680" cy="365760"/>
          </a:xfrm>
          <a:prstGeom prst="rect">
            <a:avLst/>
          </a:prstGeom>
          <a:noFill/>
        </p:spPr>
        <p:txBody>
          <a:bodyPr wrap="square" lIns="76200" tIns="50800" rIns="76200" bIns="50800" anchor="ctr">
            <a:spAutoFit/>
          </a:bodyPr>
          <a:lstStyle/>
          <a:p>
            <a:pPr algn="l"/>
            <a:r>
              <a:rPr sz="1200" b="0">
                <a:solidFill>
                  <a:srgbClr val="6B7280"/>
                </a:solidFill>
                <a:latin typeface="Segoe UI"/>
              </a:rPr>
              <a:t>Every dependency is plain PyPI — no services, no accounts; everything runs and stays on the local machine.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02322-BAF6-6AFB-617A-1CA8F90BD5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CA5D0F-6239-A1A6-A264-6061A52E5C25}"/>
              </a:ext>
            </a:extLst>
          </p:cNvPr>
          <p:cNvSpPr txBox="1"/>
          <p:nvPr/>
        </p:nvSpPr>
        <p:spPr>
          <a:xfrm>
            <a:off x="695648" y="396879"/>
            <a:ext cx="10574961" cy="5663089"/>
          </a:xfrm>
          <a:prstGeom prst="rect">
            <a:avLst/>
          </a:prstGeom>
          <a:noFill/>
        </p:spPr>
        <p:txBody>
          <a:bodyPr wrap="square" rtlCol="0">
            <a:spAutoFit/>
          </a:bodyPr>
          <a:lstStyle/>
          <a:p>
            <a:r>
              <a:rPr lang="en-US" sz="5400" b="1" dirty="0"/>
              <a:t>Development</a:t>
            </a:r>
            <a:endParaRPr lang="en-US" sz="4400" b="1" dirty="0"/>
          </a:p>
          <a:p>
            <a:endParaRPr lang="en-US" sz="4400" dirty="0"/>
          </a:p>
          <a:p>
            <a:pPr marL="285750" indent="-285750">
              <a:buFont typeface="Arial" panose="020B0604020202020204" pitchFamily="34" charset="0"/>
              <a:buChar char="•"/>
            </a:pPr>
            <a:r>
              <a:rPr lang="en-US" sz="4400" dirty="0"/>
              <a:t>All done in ~1 day with Claude Code</a:t>
            </a:r>
          </a:p>
          <a:p>
            <a:pPr marL="742950" lvl="1" indent="-285750">
              <a:buFont typeface="Arial" panose="020B0604020202020204" pitchFamily="34" charset="0"/>
              <a:buChar char="•"/>
            </a:pPr>
            <a:r>
              <a:rPr lang="en-US" sz="4400" dirty="0"/>
              <a:t>Simple interactive prompts</a:t>
            </a:r>
          </a:p>
          <a:p>
            <a:pPr marL="742950" lvl="1" indent="-285750">
              <a:buFont typeface="Arial" panose="020B0604020202020204" pitchFamily="34" charset="0"/>
              <a:buChar char="•"/>
            </a:pPr>
            <a:r>
              <a:rPr lang="en-US" sz="4400" dirty="0"/>
              <a:t>Iterative</a:t>
            </a:r>
          </a:p>
          <a:p>
            <a:pPr marL="285750" indent="-285750">
              <a:buFont typeface="Arial" panose="020B0604020202020204" pitchFamily="34" charset="0"/>
              <a:buChar char="•"/>
            </a:pPr>
            <a:r>
              <a:rPr lang="en-US" sz="4400" dirty="0"/>
              <a:t>I’m responsible for functionality – via use</a:t>
            </a:r>
          </a:p>
          <a:p>
            <a:pPr marL="285750" indent="-285750">
              <a:buFont typeface="Arial" panose="020B0604020202020204" pitchFamily="34" charset="0"/>
              <a:buChar char="•"/>
            </a:pPr>
            <a:r>
              <a:rPr lang="en-US" sz="4400" dirty="0"/>
              <a:t>I wrote no Python</a:t>
            </a:r>
          </a:p>
          <a:p>
            <a:pPr marL="285750" indent="-285750">
              <a:buFont typeface="Arial" panose="020B0604020202020204" pitchFamily="34" charset="0"/>
              <a:buChar char="•"/>
            </a:pPr>
            <a:r>
              <a:rPr lang="en-US" sz="4400" dirty="0"/>
              <a:t>Claude Code added regression tests</a:t>
            </a:r>
          </a:p>
        </p:txBody>
      </p:sp>
    </p:spTree>
    <p:extLst>
      <p:ext uri="{BB962C8B-B14F-4D97-AF65-F5344CB8AC3E}">
        <p14:creationId xmlns:p14="http://schemas.microsoft.com/office/powerpoint/2010/main" val="3967192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E4063-2480-7C7C-6389-4845F29EBC9A}"/>
            </a:ext>
          </a:extLst>
        </p:cNvPr>
        <p:cNvGrpSpPr/>
        <p:nvPr/>
      </p:nvGrpSpPr>
      <p:grpSpPr>
        <a:xfrm>
          <a:off x="0" y="0"/>
          <a:ext cx="0" cy="0"/>
          <a:chOff x="0" y="0"/>
          <a:chExt cx="0" cy="0"/>
        </a:xfrm>
      </p:grpSpPr>
      <p:pic>
        <p:nvPicPr>
          <p:cNvPr id="19" name="Picture 18" descr="Crystal Radio with Loop Antenna">
            <a:extLst>
              <a:ext uri="{FF2B5EF4-FFF2-40B4-BE49-F238E27FC236}">
                <a16:creationId xmlns:a16="http://schemas.microsoft.com/office/drawing/2014/main" id="{9C687FA7-2100-E496-A614-3B1DDF4178A7}"/>
              </a:ext>
            </a:extLst>
          </p:cNvPr>
          <p:cNvPicPr>
            <a:picLocks noChangeAspect="1"/>
          </p:cNvPicPr>
          <p:nvPr/>
        </p:nvPicPr>
        <p:blipFill>
          <a:blip r:embed="rId3"/>
          <a:stretch>
            <a:fillRect/>
          </a:stretch>
        </p:blipFill>
        <p:spPr>
          <a:xfrm>
            <a:off x="862736" y="891860"/>
            <a:ext cx="1459822" cy="1392664"/>
          </a:xfrm>
          <a:prstGeom prst="rect">
            <a:avLst/>
          </a:prstGeom>
        </p:spPr>
      </p:pic>
      <p:sp>
        <p:nvSpPr>
          <p:cNvPr id="2" name="TextBox 1">
            <a:extLst>
              <a:ext uri="{FF2B5EF4-FFF2-40B4-BE49-F238E27FC236}">
                <a16:creationId xmlns:a16="http://schemas.microsoft.com/office/drawing/2014/main" id="{A4EC0C5D-0CCC-8B48-9C38-B65BA2071133}"/>
              </a:ext>
            </a:extLst>
          </p:cNvPr>
          <p:cNvSpPr txBox="1"/>
          <p:nvPr/>
        </p:nvSpPr>
        <p:spPr>
          <a:xfrm>
            <a:off x="316129" y="93478"/>
            <a:ext cx="5874690" cy="718145"/>
          </a:xfrm>
          <a:prstGeom prst="rect">
            <a:avLst/>
          </a:prstGeom>
          <a:noFill/>
        </p:spPr>
        <p:txBody>
          <a:bodyPr wrap="square" lIns="76200" tIns="50800" rIns="76200" bIns="50800" anchor="ctr">
            <a:spAutoFit/>
          </a:bodyPr>
          <a:lstStyle/>
          <a:p>
            <a:pPr algn="l"/>
            <a:r>
              <a:rPr lang="en-US" sz="4000" b="1" dirty="0">
                <a:solidFill>
                  <a:srgbClr val="2563EB"/>
                </a:solidFill>
                <a:latin typeface="Segoe UI"/>
              </a:rPr>
              <a:t>My Journey …</a:t>
            </a:r>
            <a:endParaRPr sz="4000" b="1" dirty="0">
              <a:solidFill>
                <a:srgbClr val="2563EB"/>
              </a:solidFill>
              <a:latin typeface="Segoe UI"/>
            </a:endParaRPr>
          </a:p>
        </p:txBody>
      </p:sp>
      <p:pic>
        <p:nvPicPr>
          <p:cNvPr id="3" name="Picture 2" descr="Simple Audio amplifier Using Transistors">
            <a:extLst>
              <a:ext uri="{FF2B5EF4-FFF2-40B4-BE49-F238E27FC236}">
                <a16:creationId xmlns:a16="http://schemas.microsoft.com/office/drawing/2014/main" id="{372AA031-EBAC-2BDB-8DA4-E016968CD56F}"/>
              </a:ext>
            </a:extLst>
          </p:cNvPr>
          <p:cNvPicPr>
            <a:picLocks noChangeAspect="1"/>
          </p:cNvPicPr>
          <p:nvPr/>
        </p:nvPicPr>
        <p:blipFill>
          <a:blip r:embed="rId4"/>
          <a:stretch>
            <a:fillRect/>
          </a:stretch>
        </p:blipFill>
        <p:spPr>
          <a:xfrm>
            <a:off x="1526987" y="1626470"/>
            <a:ext cx="1842959" cy="1392664"/>
          </a:xfrm>
          <a:prstGeom prst="rect">
            <a:avLst/>
          </a:prstGeom>
        </p:spPr>
      </p:pic>
      <p:pic>
        <p:nvPicPr>
          <p:cNvPr id="4" name="Picture 3" descr="Schematic for a Full Adder Circuit">
            <a:extLst>
              <a:ext uri="{FF2B5EF4-FFF2-40B4-BE49-F238E27FC236}">
                <a16:creationId xmlns:a16="http://schemas.microsoft.com/office/drawing/2014/main" id="{7BDBEC2A-D384-FE75-62D8-D284073BB28F}"/>
              </a:ext>
            </a:extLst>
          </p:cNvPr>
          <p:cNvPicPr>
            <a:picLocks noChangeAspect="1"/>
          </p:cNvPicPr>
          <p:nvPr/>
        </p:nvPicPr>
        <p:blipFill>
          <a:blip r:embed="rId5"/>
          <a:stretch>
            <a:fillRect/>
          </a:stretch>
        </p:blipFill>
        <p:spPr>
          <a:xfrm>
            <a:off x="4043531" y="1629251"/>
            <a:ext cx="3093542" cy="1428951"/>
          </a:xfrm>
          <a:prstGeom prst="rect">
            <a:avLst/>
          </a:prstGeom>
        </p:spPr>
      </p:pic>
      <p:pic>
        <p:nvPicPr>
          <p:cNvPr id="6" name="Picture 5">
            <a:extLst>
              <a:ext uri="{FF2B5EF4-FFF2-40B4-BE49-F238E27FC236}">
                <a16:creationId xmlns:a16="http://schemas.microsoft.com/office/drawing/2014/main" id="{5306FCE7-1727-2724-A47C-D21DFBC6AF34}"/>
              </a:ext>
            </a:extLst>
          </p:cNvPr>
          <p:cNvPicPr>
            <a:picLocks noChangeAspect="1"/>
          </p:cNvPicPr>
          <p:nvPr/>
        </p:nvPicPr>
        <p:blipFill>
          <a:blip r:embed="rId6"/>
          <a:stretch>
            <a:fillRect/>
          </a:stretch>
        </p:blipFill>
        <p:spPr>
          <a:xfrm>
            <a:off x="8317791" y="564823"/>
            <a:ext cx="2520402" cy="2374292"/>
          </a:xfrm>
          <a:prstGeom prst="rect">
            <a:avLst/>
          </a:prstGeom>
        </p:spPr>
      </p:pic>
      <p:cxnSp>
        <p:nvCxnSpPr>
          <p:cNvPr id="8" name="Straight Arrow Connector 7">
            <a:extLst>
              <a:ext uri="{FF2B5EF4-FFF2-40B4-BE49-F238E27FC236}">
                <a16:creationId xmlns:a16="http://schemas.microsoft.com/office/drawing/2014/main" id="{629CD0E6-B902-2633-AC63-2797FDEB584C}"/>
              </a:ext>
            </a:extLst>
          </p:cNvPr>
          <p:cNvCxnSpPr>
            <a:cxnSpLocks/>
          </p:cNvCxnSpPr>
          <p:nvPr/>
        </p:nvCxnSpPr>
        <p:spPr>
          <a:xfrm>
            <a:off x="3671243" y="2308403"/>
            <a:ext cx="515502"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2CEBA7A-067F-5D3C-7EDA-FA43470AF681}"/>
              </a:ext>
            </a:extLst>
          </p:cNvPr>
          <p:cNvCxnSpPr/>
          <p:nvPr/>
        </p:nvCxnSpPr>
        <p:spPr>
          <a:xfrm>
            <a:off x="7110547" y="2257235"/>
            <a:ext cx="1132556"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9763B5CF-1FAC-53A6-0C2E-7030C01DA8DB}"/>
              </a:ext>
            </a:extLst>
          </p:cNvPr>
          <p:cNvCxnSpPr>
            <a:cxnSpLocks/>
          </p:cNvCxnSpPr>
          <p:nvPr/>
        </p:nvCxnSpPr>
        <p:spPr>
          <a:xfrm>
            <a:off x="721311" y="5166415"/>
            <a:ext cx="680460"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CF1BC6D2-2012-F744-3475-3E4CD7484769}"/>
              </a:ext>
            </a:extLst>
          </p:cNvPr>
          <p:cNvPicPr>
            <a:picLocks noChangeAspect="1"/>
          </p:cNvPicPr>
          <p:nvPr/>
        </p:nvPicPr>
        <p:blipFill>
          <a:blip r:embed="rId7"/>
          <a:stretch>
            <a:fillRect/>
          </a:stretch>
        </p:blipFill>
        <p:spPr>
          <a:xfrm>
            <a:off x="1548324" y="4160791"/>
            <a:ext cx="1459822" cy="1736591"/>
          </a:xfrm>
          <a:prstGeom prst="rect">
            <a:avLst/>
          </a:prstGeom>
        </p:spPr>
      </p:pic>
      <p:pic>
        <p:nvPicPr>
          <p:cNvPr id="15" name="Picture 14" descr="Gang of 4 Design Patterns Explained: Creational, Structural, and Behavioral  | DigitalOcean">
            <a:extLst>
              <a:ext uri="{FF2B5EF4-FFF2-40B4-BE49-F238E27FC236}">
                <a16:creationId xmlns:a16="http://schemas.microsoft.com/office/drawing/2014/main" id="{386A304C-44E7-36E2-8C8F-BFC50207025D}"/>
              </a:ext>
            </a:extLst>
          </p:cNvPr>
          <p:cNvPicPr>
            <a:picLocks noChangeAspect="1"/>
          </p:cNvPicPr>
          <p:nvPr/>
        </p:nvPicPr>
        <p:blipFill>
          <a:blip r:embed="rId8"/>
          <a:stretch>
            <a:fillRect/>
          </a:stretch>
        </p:blipFill>
        <p:spPr>
          <a:xfrm>
            <a:off x="4036855" y="4101194"/>
            <a:ext cx="1544515" cy="1950642"/>
          </a:xfrm>
          <a:prstGeom prst="rect">
            <a:avLst/>
          </a:prstGeom>
        </p:spPr>
      </p:pic>
      <p:cxnSp>
        <p:nvCxnSpPr>
          <p:cNvPr id="16" name="Straight Arrow Connector 15">
            <a:extLst>
              <a:ext uri="{FF2B5EF4-FFF2-40B4-BE49-F238E27FC236}">
                <a16:creationId xmlns:a16="http://schemas.microsoft.com/office/drawing/2014/main" id="{4DC98617-77E7-6994-5311-B18AA35FBD26}"/>
              </a:ext>
            </a:extLst>
          </p:cNvPr>
          <p:cNvCxnSpPr>
            <a:cxnSpLocks/>
          </p:cNvCxnSpPr>
          <p:nvPr/>
        </p:nvCxnSpPr>
        <p:spPr>
          <a:xfrm flipV="1">
            <a:off x="3115997" y="5178222"/>
            <a:ext cx="880442" cy="11272"/>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pic>
        <p:nvPicPr>
          <p:cNvPr id="17" name="Picture 16" descr="python™">
            <a:extLst>
              <a:ext uri="{FF2B5EF4-FFF2-40B4-BE49-F238E27FC236}">
                <a16:creationId xmlns:a16="http://schemas.microsoft.com/office/drawing/2014/main" id="{C4290FCF-989A-D693-0721-6307A40B82B9}"/>
              </a:ext>
            </a:extLst>
          </p:cNvPr>
          <p:cNvPicPr>
            <a:picLocks noChangeAspect="1"/>
          </p:cNvPicPr>
          <p:nvPr/>
        </p:nvPicPr>
        <p:blipFill>
          <a:blip r:embed="rId9"/>
          <a:stretch>
            <a:fillRect/>
          </a:stretch>
        </p:blipFill>
        <p:spPr>
          <a:xfrm>
            <a:off x="6365683" y="4326457"/>
            <a:ext cx="1923502" cy="543887"/>
          </a:xfrm>
          <a:prstGeom prst="rect">
            <a:avLst/>
          </a:prstGeom>
          <a:solidFill>
            <a:schemeClr val="accent1">
              <a:lumMod val="60000"/>
              <a:lumOff val="40000"/>
            </a:schemeClr>
          </a:solidFill>
        </p:spPr>
      </p:pic>
      <p:cxnSp>
        <p:nvCxnSpPr>
          <p:cNvPr id="18" name="Straight Arrow Connector 17">
            <a:extLst>
              <a:ext uri="{FF2B5EF4-FFF2-40B4-BE49-F238E27FC236}">
                <a16:creationId xmlns:a16="http://schemas.microsoft.com/office/drawing/2014/main" id="{71DDB18A-650B-BADF-D6B3-1189BDB1023A}"/>
              </a:ext>
            </a:extLst>
          </p:cNvPr>
          <p:cNvCxnSpPr>
            <a:cxnSpLocks/>
          </p:cNvCxnSpPr>
          <p:nvPr/>
        </p:nvCxnSpPr>
        <p:spPr>
          <a:xfrm>
            <a:off x="5726021" y="5189494"/>
            <a:ext cx="700883"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3A6A35A9-6CA4-39CD-54F3-011F5D8AC037}"/>
              </a:ext>
            </a:extLst>
          </p:cNvPr>
          <p:cNvPicPr>
            <a:picLocks noChangeAspect="1"/>
          </p:cNvPicPr>
          <p:nvPr/>
        </p:nvPicPr>
        <p:blipFill>
          <a:blip r:embed="rId10"/>
          <a:stretch>
            <a:fillRect/>
          </a:stretch>
        </p:blipFill>
        <p:spPr>
          <a:xfrm>
            <a:off x="6610079" y="5121537"/>
            <a:ext cx="1329375" cy="997031"/>
          </a:xfrm>
          <a:prstGeom prst="rect">
            <a:avLst/>
          </a:prstGeom>
          <a:solidFill>
            <a:schemeClr val="accent1">
              <a:lumMod val="40000"/>
              <a:lumOff val="60000"/>
            </a:schemeClr>
          </a:solidFill>
        </p:spPr>
      </p:pic>
      <p:cxnSp>
        <p:nvCxnSpPr>
          <p:cNvPr id="22" name="Straight Arrow Connector 21">
            <a:extLst>
              <a:ext uri="{FF2B5EF4-FFF2-40B4-BE49-F238E27FC236}">
                <a16:creationId xmlns:a16="http://schemas.microsoft.com/office/drawing/2014/main" id="{03C257C9-7A42-D7E7-BA4A-10555B32AFC0}"/>
              </a:ext>
            </a:extLst>
          </p:cNvPr>
          <p:cNvCxnSpPr>
            <a:cxnSpLocks/>
          </p:cNvCxnSpPr>
          <p:nvPr/>
        </p:nvCxnSpPr>
        <p:spPr>
          <a:xfrm flipV="1">
            <a:off x="721311" y="3294739"/>
            <a:ext cx="14519" cy="1926602"/>
          </a:xfrm>
          <a:prstGeom prst="straightConnector1">
            <a:avLst/>
          </a:prstGeom>
          <a:ln w="101600">
            <a:tailEnd type="non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C61AB888-ABEE-9138-D660-372829C779AA}"/>
              </a:ext>
            </a:extLst>
          </p:cNvPr>
          <p:cNvCxnSpPr>
            <a:cxnSpLocks/>
          </p:cNvCxnSpPr>
          <p:nvPr/>
        </p:nvCxnSpPr>
        <p:spPr>
          <a:xfrm flipV="1">
            <a:off x="735830" y="3294739"/>
            <a:ext cx="10745805" cy="17666"/>
          </a:xfrm>
          <a:prstGeom prst="straightConnector1">
            <a:avLst/>
          </a:prstGeom>
          <a:ln w="101600">
            <a:tailEnd type="non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6EE81AE0-9E5B-0BD5-6EA2-7A5780FBBA28}"/>
              </a:ext>
            </a:extLst>
          </p:cNvPr>
          <p:cNvCxnSpPr>
            <a:cxnSpLocks/>
          </p:cNvCxnSpPr>
          <p:nvPr/>
        </p:nvCxnSpPr>
        <p:spPr>
          <a:xfrm flipV="1">
            <a:off x="11481635" y="2248402"/>
            <a:ext cx="0" cy="1064003"/>
          </a:xfrm>
          <a:prstGeom prst="straightConnector1">
            <a:avLst/>
          </a:prstGeom>
          <a:ln w="101600">
            <a:tailEnd type="non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0BA26A5D-05B7-7FB0-4FCD-DDDC68C42B83}"/>
              </a:ext>
            </a:extLst>
          </p:cNvPr>
          <p:cNvCxnSpPr>
            <a:cxnSpLocks/>
          </p:cNvCxnSpPr>
          <p:nvPr/>
        </p:nvCxnSpPr>
        <p:spPr>
          <a:xfrm>
            <a:off x="10971056" y="2267239"/>
            <a:ext cx="510579" cy="0"/>
          </a:xfrm>
          <a:prstGeom prst="straightConnector1">
            <a:avLst/>
          </a:prstGeom>
          <a:ln w="101600">
            <a:tailEnd type="non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F6DFBA9-005E-8339-FB84-8328969442F8}"/>
              </a:ext>
            </a:extLst>
          </p:cNvPr>
          <p:cNvCxnSpPr>
            <a:cxnSpLocks/>
          </p:cNvCxnSpPr>
          <p:nvPr/>
        </p:nvCxnSpPr>
        <p:spPr>
          <a:xfrm>
            <a:off x="8451626" y="5189494"/>
            <a:ext cx="700883" cy="0"/>
          </a:xfrm>
          <a:prstGeom prst="straightConnector1">
            <a:avLst/>
          </a:prstGeom>
          <a:ln w="101600">
            <a:tailEnd type="triangle"/>
          </a:ln>
        </p:spPr>
        <p:style>
          <a:lnRef idx="2">
            <a:schemeClr val="accent1"/>
          </a:lnRef>
          <a:fillRef idx="0">
            <a:schemeClr val="accent1"/>
          </a:fillRef>
          <a:effectRef idx="1">
            <a:schemeClr val="accent1"/>
          </a:effectRef>
          <a:fontRef idx="minor">
            <a:schemeClr val="tx1"/>
          </a:fontRef>
        </p:style>
      </p:cxnSp>
      <p:pic>
        <p:nvPicPr>
          <p:cNvPr id="14" name="Picture 13" descr="Transformer Architecture">
            <a:extLst>
              <a:ext uri="{FF2B5EF4-FFF2-40B4-BE49-F238E27FC236}">
                <a16:creationId xmlns:a16="http://schemas.microsoft.com/office/drawing/2014/main" id="{6896D799-9A78-D372-E11B-2E930CB8BA19}"/>
              </a:ext>
            </a:extLst>
          </p:cNvPr>
          <p:cNvPicPr>
            <a:picLocks noChangeAspect="1"/>
          </p:cNvPicPr>
          <p:nvPr/>
        </p:nvPicPr>
        <p:blipFill>
          <a:blip r:embed="rId11"/>
          <a:stretch>
            <a:fillRect/>
          </a:stretch>
        </p:blipFill>
        <p:spPr>
          <a:xfrm>
            <a:off x="9345479" y="3545367"/>
            <a:ext cx="1803703" cy="2656901"/>
          </a:xfrm>
          <a:prstGeom prst="rect">
            <a:avLst/>
          </a:prstGeom>
        </p:spPr>
      </p:pic>
      <p:sp>
        <p:nvSpPr>
          <p:cNvPr id="27" name="TextBox 26">
            <a:extLst>
              <a:ext uri="{FF2B5EF4-FFF2-40B4-BE49-F238E27FC236}">
                <a16:creationId xmlns:a16="http://schemas.microsoft.com/office/drawing/2014/main" id="{A3E74FE5-C545-7E0A-B64B-A66E9B7F99E4}"/>
              </a:ext>
            </a:extLst>
          </p:cNvPr>
          <p:cNvSpPr txBox="1"/>
          <p:nvPr/>
        </p:nvSpPr>
        <p:spPr>
          <a:xfrm>
            <a:off x="9259267" y="6202268"/>
            <a:ext cx="2266273" cy="276999"/>
          </a:xfrm>
          <a:prstGeom prst="rect">
            <a:avLst/>
          </a:prstGeom>
          <a:noFill/>
        </p:spPr>
        <p:txBody>
          <a:bodyPr wrap="square">
            <a:spAutoFit/>
          </a:bodyPr>
          <a:lstStyle/>
          <a:p>
            <a:r>
              <a:rPr lang="en-US" sz="1200" dirty="0"/>
              <a:t>Transformer model architecture</a:t>
            </a:r>
          </a:p>
        </p:txBody>
      </p:sp>
    </p:spTree>
    <p:extLst>
      <p:ext uri="{BB962C8B-B14F-4D97-AF65-F5344CB8AC3E}">
        <p14:creationId xmlns:p14="http://schemas.microsoft.com/office/powerpoint/2010/main" val="3074782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2777-EED8-6E97-2F61-4AC5B37476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FDDC89-87EF-D3E8-F52B-FEE45DFD6CB4}"/>
              </a:ext>
            </a:extLst>
          </p:cNvPr>
          <p:cNvSpPr txBox="1"/>
          <p:nvPr/>
        </p:nvSpPr>
        <p:spPr>
          <a:xfrm>
            <a:off x="695649" y="396879"/>
            <a:ext cx="10253944" cy="3508653"/>
          </a:xfrm>
          <a:prstGeom prst="rect">
            <a:avLst/>
          </a:prstGeom>
          <a:noFill/>
        </p:spPr>
        <p:txBody>
          <a:bodyPr wrap="square" rtlCol="0">
            <a:spAutoFit/>
          </a:bodyPr>
          <a:lstStyle/>
          <a:p>
            <a:r>
              <a:rPr lang="en-US" sz="2400" b="1" dirty="0"/>
              <a:t>Summary</a:t>
            </a:r>
            <a:endParaRPr lang="en-US" b="1" dirty="0"/>
          </a:p>
          <a:p>
            <a:endParaRPr lang="en-US" dirty="0"/>
          </a:p>
          <a:p>
            <a:pPr marL="285750" indent="-285750">
              <a:buFont typeface="Arial" panose="020B0604020202020204" pitchFamily="34" charset="0"/>
              <a:buChar char="•"/>
            </a:pPr>
            <a:r>
              <a:rPr lang="en-US" dirty="0"/>
              <a:t>With AI, less of the work is now coding per-se.</a:t>
            </a:r>
          </a:p>
          <a:p>
            <a:pPr marL="285750" indent="-285750">
              <a:buFont typeface="Arial" panose="020B0604020202020204" pitchFamily="34" charset="0"/>
              <a:buChar char="•"/>
            </a:pPr>
            <a:r>
              <a:rPr lang="en-US" dirty="0"/>
              <a:t>The </a:t>
            </a:r>
            <a:r>
              <a:rPr lang="en-US" b="1" u="sng" dirty="0"/>
              <a:t>Responsibility</a:t>
            </a:r>
            <a:r>
              <a:rPr lang="en-US" dirty="0"/>
              <a:t> of the delivered product hasn’t changed.</a:t>
            </a:r>
          </a:p>
          <a:p>
            <a:pPr marL="285750" indent="-285750">
              <a:buFont typeface="Arial" panose="020B0604020202020204" pitchFamily="34" charset="0"/>
              <a:buChar char="•"/>
            </a:pPr>
            <a:r>
              <a:rPr lang="en-US" b="1" u="sng" dirty="0"/>
              <a:t>Specifications</a:t>
            </a:r>
            <a:r>
              <a:rPr lang="en-US" dirty="0"/>
              <a:t> (Prompts) is a skill.</a:t>
            </a:r>
          </a:p>
          <a:p>
            <a:pPr marL="742950" lvl="1" indent="-285750">
              <a:buFont typeface="Arial" panose="020B0604020202020204" pitchFamily="34" charset="0"/>
              <a:buChar char="•"/>
            </a:pPr>
            <a:r>
              <a:rPr lang="en-US" dirty="0"/>
              <a:t>What technologies should be applied to the end product?</a:t>
            </a:r>
          </a:p>
          <a:p>
            <a:pPr marL="285750" indent="-285750">
              <a:buFont typeface="Arial" panose="020B0604020202020204" pitchFamily="34" charset="0"/>
              <a:buChar char="•"/>
            </a:pPr>
            <a:r>
              <a:rPr lang="en-US" b="1" u="sng" dirty="0"/>
              <a:t>Tool selection </a:t>
            </a:r>
            <a:r>
              <a:rPr lang="en-US" dirty="0"/>
              <a:t>is important (what model, security, cloud vs. local, cost, etc.).</a:t>
            </a:r>
          </a:p>
          <a:p>
            <a:pPr marL="742950" lvl="1" indent="-285750">
              <a:buFont typeface="Arial" panose="020B0604020202020204" pitchFamily="34" charset="0"/>
              <a:buChar char="•"/>
            </a:pPr>
            <a:r>
              <a:rPr lang="en-US" dirty="0"/>
              <a:t>What AI techniques exist and should be applied?</a:t>
            </a:r>
          </a:p>
          <a:p>
            <a:pPr marL="742950" lvl="1" indent="-285750">
              <a:buFont typeface="Arial" panose="020B0604020202020204" pitchFamily="34" charset="0"/>
              <a:buChar char="•"/>
            </a:pPr>
            <a:r>
              <a:rPr lang="en-US" dirty="0"/>
              <a:t>What are Transformers, Generative Pretrained Transformer (GPT), RAG, MCP, Agents, etc.</a:t>
            </a:r>
          </a:p>
          <a:p>
            <a:pPr marL="285750" indent="-285750">
              <a:buFont typeface="Arial" panose="020B0604020202020204" pitchFamily="34" charset="0"/>
              <a:buChar char="•"/>
            </a:pPr>
            <a:r>
              <a:rPr lang="en-US" b="1" u="sng" dirty="0"/>
              <a:t>Tests</a:t>
            </a:r>
            <a:r>
              <a:rPr lang="en-US" dirty="0"/>
              <a:t> are as important as ever (if not more so).</a:t>
            </a:r>
          </a:p>
          <a:p>
            <a:pPr marL="285750" indent="-285750">
              <a:buFont typeface="Arial" panose="020B0604020202020204" pitchFamily="34" charset="0"/>
              <a:buChar char="•"/>
            </a:pPr>
            <a:r>
              <a:rPr lang="en-US" dirty="0"/>
              <a:t>The responsible party must still be able to ensure things are </a:t>
            </a:r>
            <a:r>
              <a:rPr lang="en-US" b="1" u="sng" dirty="0"/>
              <a:t>fixed</a:t>
            </a:r>
            <a:r>
              <a:rPr lang="en-US" dirty="0"/>
              <a:t> when they go wrong.</a:t>
            </a:r>
          </a:p>
          <a:p>
            <a:pPr marL="285750" indent="-285750">
              <a:buFont typeface="Arial" panose="020B0604020202020204" pitchFamily="34" charset="0"/>
              <a:buChar char="•"/>
            </a:pPr>
            <a:r>
              <a:rPr lang="en-US" dirty="0">
                <a:hlinkClick r:id="rId3"/>
              </a:rPr>
              <a:t>https://github.com/jamesabel/songstem</a:t>
            </a:r>
            <a:r>
              <a:rPr lang="en-US" dirty="0"/>
              <a:t> </a:t>
            </a:r>
          </a:p>
        </p:txBody>
      </p:sp>
      <p:pic>
        <p:nvPicPr>
          <p:cNvPr id="3" name="Picture 2" descr="THE PELICAN INN - B&amp;B Reviews (Muir Beach, CA)">
            <a:extLst>
              <a:ext uri="{FF2B5EF4-FFF2-40B4-BE49-F238E27FC236}">
                <a16:creationId xmlns:a16="http://schemas.microsoft.com/office/drawing/2014/main" id="{7693E894-EFE3-3504-52B6-090F2F47D79C}"/>
              </a:ext>
            </a:extLst>
          </p:cNvPr>
          <p:cNvPicPr>
            <a:picLocks noChangeAspect="1"/>
          </p:cNvPicPr>
          <p:nvPr/>
        </p:nvPicPr>
        <p:blipFill>
          <a:blip r:embed="rId4"/>
          <a:stretch>
            <a:fillRect/>
          </a:stretch>
        </p:blipFill>
        <p:spPr>
          <a:xfrm>
            <a:off x="5970580" y="4066063"/>
            <a:ext cx="4123212" cy="2299836"/>
          </a:xfrm>
          <a:prstGeom prst="rect">
            <a:avLst/>
          </a:prstGeom>
        </p:spPr>
      </p:pic>
      <p:pic>
        <p:nvPicPr>
          <p:cNvPr id="5" name="Picture 4">
            <a:extLst>
              <a:ext uri="{FF2B5EF4-FFF2-40B4-BE49-F238E27FC236}">
                <a16:creationId xmlns:a16="http://schemas.microsoft.com/office/drawing/2014/main" id="{257549B7-0E3F-41CB-839D-88D88BD5189D}"/>
              </a:ext>
            </a:extLst>
          </p:cNvPr>
          <p:cNvPicPr>
            <a:picLocks noChangeAspect="1"/>
          </p:cNvPicPr>
          <p:nvPr/>
        </p:nvPicPr>
        <p:blipFill>
          <a:blip r:embed="rId5"/>
          <a:stretch>
            <a:fillRect/>
          </a:stretch>
        </p:blipFill>
        <p:spPr>
          <a:xfrm>
            <a:off x="1622401" y="4223817"/>
            <a:ext cx="4064209" cy="1130358"/>
          </a:xfrm>
          <a:prstGeom prst="rect">
            <a:avLst/>
          </a:prstGeom>
        </p:spPr>
      </p:pic>
      <p:sp>
        <p:nvSpPr>
          <p:cNvPr id="6" name="TextBox 5">
            <a:extLst>
              <a:ext uri="{FF2B5EF4-FFF2-40B4-BE49-F238E27FC236}">
                <a16:creationId xmlns:a16="http://schemas.microsoft.com/office/drawing/2014/main" id="{DDAE9E02-D83C-76ED-52CB-B84091ABA030}"/>
              </a:ext>
            </a:extLst>
          </p:cNvPr>
          <p:cNvSpPr txBox="1"/>
          <p:nvPr/>
        </p:nvSpPr>
        <p:spPr>
          <a:xfrm>
            <a:off x="2310163" y="5272660"/>
            <a:ext cx="2870209" cy="1200329"/>
          </a:xfrm>
          <a:prstGeom prst="rect">
            <a:avLst/>
          </a:prstGeom>
          <a:noFill/>
        </p:spPr>
        <p:txBody>
          <a:bodyPr wrap="none" rtlCol="0">
            <a:spAutoFit/>
          </a:bodyPr>
          <a:lstStyle/>
          <a:p>
            <a:r>
              <a:rPr lang="en-US" i="1" dirty="0"/>
              <a:t>10 pacific way,</a:t>
            </a:r>
            <a:br>
              <a:rPr lang="en-US" i="1" dirty="0"/>
            </a:br>
            <a:r>
              <a:rPr lang="en-US" i="1" dirty="0"/>
              <a:t>Muir beach, California 94965</a:t>
            </a:r>
          </a:p>
          <a:p>
            <a:endParaRPr lang="en-US" dirty="0"/>
          </a:p>
          <a:p>
            <a:r>
              <a:rPr lang="en-US" dirty="0"/>
              <a:t>Mon Sept 7, 2026</a:t>
            </a:r>
          </a:p>
        </p:txBody>
      </p:sp>
      <p:pic>
        <p:nvPicPr>
          <p:cNvPr id="7" name="Picture 6" descr="pelicaninn@2x">
            <a:extLst>
              <a:ext uri="{FF2B5EF4-FFF2-40B4-BE49-F238E27FC236}">
                <a16:creationId xmlns:a16="http://schemas.microsoft.com/office/drawing/2014/main" id="{EF8E6F79-117E-B1A5-63C2-A867F9DADB64}"/>
              </a:ext>
            </a:extLst>
          </p:cNvPr>
          <p:cNvPicPr>
            <a:picLocks noChangeAspect="1"/>
          </p:cNvPicPr>
          <p:nvPr/>
        </p:nvPicPr>
        <p:blipFill>
          <a:blip r:embed="rId6"/>
          <a:stretch>
            <a:fillRect/>
          </a:stretch>
        </p:blipFill>
        <p:spPr>
          <a:xfrm>
            <a:off x="3286898" y="3215848"/>
            <a:ext cx="5619750" cy="428625"/>
          </a:xfrm>
          <a:prstGeom prst="rect">
            <a:avLst/>
          </a:prstGeom>
        </p:spPr>
      </p:pic>
    </p:spTree>
    <p:extLst>
      <p:ext uri="{BB962C8B-B14F-4D97-AF65-F5344CB8AC3E}">
        <p14:creationId xmlns:p14="http://schemas.microsoft.com/office/powerpoint/2010/main" val="1371272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AF515-A13D-EECA-5B82-EA3765A5CF59}"/>
              </a:ext>
            </a:extLst>
          </p:cNvPr>
          <p:cNvSpPr>
            <a:spLocks noGrp="1"/>
          </p:cNvSpPr>
          <p:nvPr>
            <p:ph type="title"/>
          </p:nvPr>
        </p:nvSpPr>
        <p:spPr/>
        <p:txBody>
          <a:bodyPr/>
          <a:lstStyle/>
          <a:p>
            <a:r>
              <a:rPr lang="en-US" dirty="0"/>
              <a:t>BACKUP</a:t>
            </a:r>
          </a:p>
        </p:txBody>
      </p:sp>
      <p:sp>
        <p:nvSpPr>
          <p:cNvPr id="3" name="Text Placeholder 2">
            <a:extLst>
              <a:ext uri="{FF2B5EF4-FFF2-40B4-BE49-F238E27FC236}">
                <a16:creationId xmlns:a16="http://schemas.microsoft.com/office/drawing/2014/main" id="{B2B3E574-A036-E323-8594-6C9C3E50E5A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47990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40080"/>
          </a:xfrm>
          <a:prstGeom prst="rect">
            <a:avLst/>
          </a:prstGeom>
          <a:noFill/>
        </p:spPr>
        <p:txBody>
          <a:bodyPr wrap="square" lIns="76200" tIns="50800" rIns="76200" bIns="50800" anchor="ctr">
            <a:spAutoFit/>
          </a:bodyPr>
          <a:lstStyle/>
          <a:p>
            <a:pPr algn="l"/>
            <a:r>
              <a:rPr sz="3000" b="1">
                <a:solidFill>
                  <a:srgbClr val="1F2937"/>
                </a:solidFill>
                <a:latin typeface="Segoe UI"/>
              </a:rPr>
              <a:t>Usage model</a:t>
            </a:r>
          </a:p>
        </p:txBody>
      </p:sp>
      <p:sp>
        <p:nvSpPr>
          <p:cNvPr id="3" name="Rectangle 2"/>
          <p:cNvSpPr/>
          <p:nvPr/>
        </p:nvSpPr>
        <p:spPr>
          <a:xfrm>
            <a:off x="548640" y="896112"/>
            <a:ext cx="1463040" cy="444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87552"/>
            <a:ext cx="11155680" cy="365760"/>
          </a:xfrm>
          <a:prstGeom prst="rect">
            <a:avLst/>
          </a:prstGeom>
          <a:noFill/>
        </p:spPr>
        <p:txBody>
          <a:bodyPr wrap="square" lIns="76200" tIns="50800" rIns="76200" bIns="50800" anchor="ctr">
            <a:spAutoFit/>
          </a:bodyPr>
          <a:lstStyle/>
          <a:p>
            <a:pPr algn="l"/>
            <a:r>
              <a:rPr sz="1400" b="0">
                <a:solidFill>
                  <a:srgbClr val="6B7280"/>
                </a:solidFill>
                <a:latin typeface="Segoe UI"/>
              </a:rPr>
              <a:t>One button after setup — the batch runs in the background</a:t>
            </a:r>
          </a:p>
        </p:txBody>
      </p:sp>
      <p:sp>
        <p:nvSpPr>
          <p:cNvPr id="5" name="Rounded Rectangle 4"/>
          <p:cNvSpPr/>
          <p:nvPr/>
        </p:nvSpPr>
        <p:spPr>
          <a:xfrm>
            <a:off x="548640" y="1828800"/>
            <a:ext cx="2331720" cy="123444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1F2937"/>
                </a:solidFill>
                <a:latin typeface="Segoe UI"/>
              </a:rPr>
              <a:t>1 · Pick a playlist</a:t>
            </a:r>
          </a:p>
          <a:p>
            <a:pPr algn="ctr"/>
            <a:r>
              <a:rPr sz="1100" b="0">
                <a:solidFill>
                  <a:srgbClr val="6B7280"/>
                </a:solidFill>
                <a:latin typeface="Segoe UI"/>
              </a:rPr>
              <a:t>read live from iTunes /</a:t>
            </a:r>
          </a:p>
          <a:p>
            <a:pPr algn="ctr"/>
            <a:r>
              <a:rPr sz="1100" b="0">
                <a:solidFill>
                  <a:srgbClr val="6B7280"/>
                </a:solidFill>
                <a:latin typeface="Segoe UI"/>
              </a:rPr>
              <a:t>Apple Music (COM)</a:t>
            </a:r>
          </a:p>
        </p:txBody>
      </p:sp>
      <p:sp>
        <p:nvSpPr>
          <p:cNvPr id="6" name="Right Arrow 5"/>
          <p:cNvSpPr/>
          <p:nvPr/>
        </p:nvSpPr>
        <p:spPr>
          <a:xfrm>
            <a:off x="2926079" y="2331720"/>
            <a:ext cx="36576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337560" y="1828800"/>
            <a:ext cx="2331720" cy="123444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1F2937"/>
                </a:solidFill>
                <a:latin typeface="Segoe UI"/>
              </a:rPr>
              <a:t>2 · Check songs</a:t>
            </a:r>
          </a:p>
          <a:p>
            <a:pPr algn="ctr"/>
            <a:r>
              <a:rPr sz="1100" b="0">
                <a:solidFill>
                  <a:srgbClr val="6B7280"/>
                </a:solidFill>
                <a:latin typeface="Segoe UI"/>
              </a:rPr>
              <a:t>unusable (DRM, cloud-only)</a:t>
            </a:r>
          </a:p>
          <a:p>
            <a:pPr algn="ctr"/>
            <a:r>
              <a:rPr sz="1100" b="0">
                <a:solidFill>
                  <a:srgbClr val="6B7280"/>
                </a:solidFill>
                <a:latin typeface="Segoe UI"/>
              </a:rPr>
              <a:t>tracks are greyed out</a:t>
            </a:r>
          </a:p>
        </p:txBody>
      </p:sp>
      <p:sp>
        <p:nvSpPr>
          <p:cNvPr id="8" name="Right Arrow 7"/>
          <p:cNvSpPr/>
          <p:nvPr/>
        </p:nvSpPr>
        <p:spPr>
          <a:xfrm>
            <a:off x="5714999" y="2331720"/>
            <a:ext cx="36576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26479" y="1828800"/>
            <a:ext cx="2331720" cy="123444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1F2937"/>
                </a:solidFill>
                <a:latin typeface="Segoe UI"/>
              </a:rPr>
              <a:t>3 · Choose the stem</a:t>
            </a:r>
          </a:p>
          <a:p>
            <a:pPr algn="ctr"/>
            <a:r>
              <a:rPr sz="1100" b="0">
                <a:solidFill>
                  <a:srgbClr val="6B7280"/>
                </a:solidFill>
                <a:latin typeface="Segoe UI"/>
              </a:rPr>
              <a:t>bass, guitar, vocals… plus</a:t>
            </a:r>
          </a:p>
          <a:p>
            <a:pPr algn="ctr"/>
            <a:r>
              <a:rPr sz="1100" b="0">
                <a:solidFill>
                  <a:srgbClr val="6B7280"/>
                </a:solidFill>
                <a:latin typeface="Segoe UI"/>
              </a:rPr>
              <a:t>per-stem muted-mix levels</a:t>
            </a:r>
          </a:p>
        </p:txBody>
      </p:sp>
      <p:sp>
        <p:nvSpPr>
          <p:cNvPr id="10" name="Right Arrow 9"/>
          <p:cNvSpPr/>
          <p:nvPr/>
        </p:nvSpPr>
        <p:spPr>
          <a:xfrm>
            <a:off x="8503920" y="2331720"/>
            <a:ext cx="365760" cy="256032"/>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915400" y="1828800"/>
            <a:ext cx="2331720" cy="123444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1F2937"/>
                </a:solidFill>
                <a:latin typeface="Segoe UI"/>
              </a:rPr>
              <a:t>4 · Run</a:t>
            </a:r>
          </a:p>
          <a:p>
            <a:pPr algn="ctr"/>
            <a:r>
              <a:rPr sz="1100" b="0">
                <a:solidFill>
                  <a:srgbClr val="6B7280"/>
                </a:solidFill>
                <a:latin typeface="Segoe UI"/>
              </a:rPr>
              <a:t>separation runs in a child</a:t>
            </a:r>
          </a:p>
          <a:p>
            <a:pPr algn="ctr"/>
            <a:r>
              <a:rPr sz="1100" b="0">
                <a:solidFill>
                  <a:srgbClr val="6B7280"/>
                </a:solidFill>
                <a:latin typeface="Segoe UI"/>
              </a:rPr>
              <a:t>process; progress + Stop</a:t>
            </a:r>
          </a:p>
        </p:txBody>
      </p:sp>
      <p:sp>
        <p:nvSpPr>
          <p:cNvPr id="12" name="Down Arrow 11"/>
          <p:cNvSpPr/>
          <p:nvPr/>
        </p:nvSpPr>
        <p:spPr>
          <a:xfrm>
            <a:off x="10058400" y="3246120"/>
            <a:ext cx="256032" cy="548640"/>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60920" y="3977639"/>
            <a:ext cx="4297680" cy="1691640"/>
          </a:xfrm>
          <a:prstGeom prst="roundRect">
            <a:avLst>
              <a:gd name="adj" fmla="val 12000"/>
            </a:avLst>
          </a:prstGeom>
          <a:solidFill>
            <a:srgbClr val="F0FD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t"/>
          <a:lstStyle/>
          <a:p>
            <a:pPr algn="ctr"/>
            <a:r>
              <a:rPr sz="1300" b="1">
                <a:solidFill>
                  <a:srgbClr val="0D9488"/>
                </a:solidFill>
                <a:latin typeface="Segoe UI"/>
              </a:rPr>
              <a:t>Per song, in the output folder</a:t>
            </a:r>
          </a:p>
        </p:txBody>
      </p:sp>
      <p:sp>
        <p:nvSpPr>
          <p:cNvPr id="14" name="Rounded Rectangle 13"/>
          <p:cNvSpPr/>
          <p:nvPr/>
        </p:nvSpPr>
        <p:spPr>
          <a:xfrm>
            <a:off x="7589520" y="4434840"/>
            <a:ext cx="3840480" cy="347472"/>
          </a:xfrm>
          <a:prstGeom prst="roundRect">
            <a:avLst>
              <a:gd name="adj" fmla="val 12000"/>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100" b="0">
                <a:solidFill>
                  <a:srgbClr val="1F2937"/>
                </a:solidFill>
                <a:latin typeface="Segoe UI"/>
              </a:rPr>
              <a:t>Artist – Title [bass solo].wav</a:t>
            </a:r>
          </a:p>
        </p:txBody>
      </p:sp>
      <p:sp>
        <p:nvSpPr>
          <p:cNvPr id="15" name="Rounded Rectangle 14"/>
          <p:cNvSpPr/>
          <p:nvPr/>
        </p:nvSpPr>
        <p:spPr>
          <a:xfrm>
            <a:off x="7589520" y="4837176"/>
            <a:ext cx="3840480" cy="347472"/>
          </a:xfrm>
          <a:prstGeom prst="roundRect">
            <a:avLst>
              <a:gd name="adj" fmla="val 12000"/>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100" b="0">
                <a:solidFill>
                  <a:srgbClr val="1F2937"/>
                </a:solidFill>
                <a:latin typeface="Segoe UI"/>
              </a:rPr>
              <a:t>Artist – Title [bass muted].wav</a:t>
            </a:r>
          </a:p>
        </p:txBody>
      </p:sp>
      <p:sp>
        <p:nvSpPr>
          <p:cNvPr id="16" name="Rounded Rectangle 15"/>
          <p:cNvSpPr/>
          <p:nvPr/>
        </p:nvSpPr>
        <p:spPr>
          <a:xfrm>
            <a:off x="7589520" y="5239512"/>
            <a:ext cx="3840480" cy="347472"/>
          </a:xfrm>
          <a:prstGeom prst="roundRect">
            <a:avLst>
              <a:gd name="adj" fmla="val 12000"/>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100" b="0">
                <a:solidFill>
                  <a:srgbClr val="1F2937"/>
                </a:solidFill>
                <a:latin typeface="Segoe UI"/>
              </a:rPr>
              <a:t>Artist – Title [bass cheatsheet].md</a:t>
            </a:r>
          </a:p>
        </p:txBody>
      </p:sp>
      <p:sp>
        <p:nvSpPr>
          <p:cNvPr id="17" name="TextBox 16"/>
          <p:cNvSpPr txBox="1"/>
          <p:nvPr/>
        </p:nvSpPr>
        <p:spPr>
          <a:xfrm>
            <a:off x="7818120" y="5715000"/>
            <a:ext cx="3840480" cy="274320"/>
          </a:xfrm>
          <a:prstGeom prst="rect">
            <a:avLst/>
          </a:prstGeom>
          <a:noFill/>
        </p:spPr>
        <p:txBody>
          <a:bodyPr wrap="square" lIns="76200" tIns="50800" rIns="76200" bIns="50800" anchor="ctr">
            <a:spAutoFit/>
          </a:bodyPr>
          <a:lstStyle/>
          <a:p>
            <a:pPr algn="l"/>
            <a:r>
              <a:rPr sz="1050" b="0">
                <a:solidFill>
                  <a:srgbClr val="6B7280"/>
                </a:solidFill>
                <a:latin typeface="Segoe UI"/>
              </a:rPr>
              <a:t>cheat sheet: key, tempo, note patterns, synced lyrics</a:t>
            </a:r>
          </a:p>
        </p:txBody>
      </p:sp>
      <p:sp>
        <p:nvSpPr>
          <p:cNvPr id="18" name="Left Arrow 17"/>
          <p:cNvSpPr/>
          <p:nvPr/>
        </p:nvSpPr>
        <p:spPr>
          <a:xfrm>
            <a:off x="6720840" y="4663440"/>
            <a:ext cx="502920" cy="256032"/>
          </a:xfrm>
          <a:prstGeom prst="lef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023360" y="4206240"/>
            <a:ext cx="2606040" cy="123444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1F2937"/>
                </a:solidFill>
                <a:latin typeface="Segoe UI"/>
              </a:rPr>
              <a:t>5 · Practice</a:t>
            </a:r>
          </a:p>
          <a:p>
            <a:pPr algn="ctr"/>
            <a:r>
              <a:rPr sz="1100" b="0">
                <a:solidFill>
                  <a:srgbClr val="6B7280"/>
                </a:solidFill>
                <a:latin typeface="Segoe UI"/>
              </a:rPr>
              <a:t>audition solo / muted in the</a:t>
            </a:r>
          </a:p>
          <a:p>
            <a:pPr algn="ctr"/>
            <a:r>
              <a:rPr sz="1100" b="0">
                <a:solidFill>
                  <a:srgbClr val="6B7280"/>
                </a:solidFill>
                <a:latin typeface="Segoe UI"/>
              </a:rPr>
              <a:t>built-in player; selections are</a:t>
            </a:r>
          </a:p>
          <a:p>
            <a:pPr algn="ctr"/>
            <a:r>
              <a:rPr sz="1100" b="0">
                <a:solidFill>
                  <a:srgbClr val="6B7280"/>
                </a:solidFill>
                <a:latin typeface="Segoe UI"/>
              </a:rPr>
              <a:t>remembered between launches</a:t>
            </a:r>
          </a:p>
        </p:txBody>
      </p:sp>
      <p:sp>
        <p:nvSpPr>
          <p:cNvPr id="20" name="TextBox 19"/>
          <p:cNvSpPr txBox="1"/>
          <p:nvPr/>
        </p:nvSpPr>
        <p:spPr>
          <a:xfrm>
            <a:off x="548640" y="4343400"/>
            <a:ext cx="3291840" cy="1097280"/>
          </a:xfrm>
          <a:prstGeom prst="rect">
            <a:avLst/>
          </a:prstGeom>
          <a:noFill/>
        </p:spPr>
        <p:txBody>
          <a:bodyPr wrap="square" lIns="76200" tIns="50800" rIns="76200" bIns="50800" anchor="ctr">
            <a:spAutoFit/>
          </a:bodyPr>
          <a:lstStyle/>
          <a:p>
            <a:pPr algn="l"/>
            <a:r>
              <a:rPr sz="1200" b="1">
                <a:solidFill>
                  <a:srgbClr val="1F2937"/>
                </a:solidFill>
                <a:latin typeface="Segoe UI"/>
              </a:rPr>
              <a:t>Optional per-song pitch shift</a:t>
            </a:r>
          </a:p>
          <a:p>
            <a:pPr algn="l"/>
            <a:r>
              <a:rPr sz="1100" b="0">
                <a:solidFill>
                  <a:srgbClr val="6B7280"/>
                </a:solidFill>
                <a:latin typeface="Segoe UI"/>
              </a:rPr>
              <a:t>±12 half-steps → transposed WAV copies,</a:t>
            </a:r>
          </a:p>
          <a:p>
            <a:pPr algn="l"/>
            <a:r>
              <a:rPr sz="1100" b="0">
                <a:solidFill>
                  <a:srgbClr val="6B7280"/>
                </a:solidFill>
                <a:latin typeface="Segoe UI"/>
              </a:rPr>
              <a:t>for comfortable keys / alternate tunings</a:t>
            </a:r>
          </a:p>
        </p:txBody>
      </p:sp>
      <p:pic>
        <p:nvPicPr>
          <p:cNvPr id="22" name="Picture 21">
            <a:extLst>
              <a:ext uri="{FF2B5EF4-FFF2-40B4-BE49-F238E27FC236}">
                <a16:creationId xmlns:a16="http://schemas.microsoft.com/office/drawing/2014/main" id="{29A65553-438D-5227-3BE1-FC689AE2CC51}"/>
              </a:ext>
            </a:extLst>
          </p:cNvPr>
          <p:cNvPicPr>
            <a:picLocks noChangeAspect="1"/>
          </p:cNvPicPr>
          <p:nvPr/>
        </p:nvPicPr>
        <p:blipFill>
          <a:blip r:embed="rId2"/>
          <a:stretch>
            <a:fillRect/>
          </a:stretch>
        </p:blipFill>
        <p:spPr>
          <a:xfrm>
            <a:off x="10507477" y="115832"/>
            <a:ext cx="1151123" cy="11511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40080"/>
          </a:xfrm>
          <a:prstGeom prst="rect">
            <a:avLst/>
          </a:prstGeom>
          <a:noFill/>
        </p:spPr>
        <p:txBody>
          <a:bodyPr wrap="square" lIns="76200" tIns="50800" rIns="76200" bIns="50800" anchor="ctr">
            <a:spAutoFit/>
          </a:bodyPr>
          <a:lstStyle/>
          <a:p>
            <a:pPr algn="l"/>
            <a:r>
              <a:rPr sz="3000" b="1">
                <a:solidFill>
                  <a:srgbClr val="1F2937"/>
                </a:solidFill>
                <a:latin typeface="Segoe UI"/>
              </a:rPr>
              <a:t>Audio sources and the DRM boundary</a:t>
            </a:r>
          </a:p>
        </p:txBody>
      </p:sp>
      <p:sp>
        <p:nvSpPr>
          <p:cNvPr id="3" name="Rectangle 2"/>
          <p:cNvSpPr/>
          <p:nvPr/>
        </p:nvSpPr>
        <p:spPr>
          <a:xfrm>
            <a:off x="548640" y="896112"/>
            <a:ext cx="1463040" cy="444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87552"/>
            <a:ext cx="11155680" cy="365760"/>
          </a:xfrm>
          <a:prstGeom prst="rect">
            <a:avLst/>
          </a:prstGeom>
          <a:noFill/>
        </p:spPr>
        <p:txBody>
          <a:bodyPr wrap="square" lIns="76200" tIns="50800" rIns="76200" bIns="50800" anchor="ctr">
            <a:spAutoFit/>
          </a:bodyPr>
          <a:lstStyle/>
          <a:p>
            <a:pPr algn="l"/>
            <a:r>
              <a:rPr sz="1400" b="0">
                <a:solidFill>
                  <a:srgbClr val="6B7280"/>
                </a:solidFill>
                <a:latin typeface="Segoe UI"/>
              </a:rPr>
              <a:t>Separation needs decodable audio — Apple's FairPlay DRM cannot be decrypted</a:t>
            </a:r>
          </a:p>
        </p:txBody>
      </p:sp>
      <p:sp>
        <p:nvSpPr>
          <p:cNvPr id="5" name="Rounded Rectangle 4"/>
          <p:cNvSpPr/>
          <p:nvPr/>
        </p:nvSpPr>
        <p:spPr>
          <a:xfrm>
            <a:off x="4297680" y="1600200"/>
            <a:ext cx="3566160" cy="777240"/>
          </a:xfrm>
          <a:prstGeom prst="roundRect">
            <a:avLst>
              <a:gd name="adj" fmla="val 12000"/>
            </a:avLst>
          </a:prstGeom>
          <a:solidFill>
            <a:srgbClr val="F3F4F6"/>
          </a:solidFill>
          <a:ln w="15875">
            <a:solidFill>
              <a:srgbClr val="9CA3AF"/>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1F2937"/>
                </a:solidFill>
                <a:latin typeface="Segoe UI"/>
              </a:rPr>
              <a:t>iTunes / Apple Music track</a:t>
            </a:r>
          </a:p>
        </p:txBody>
      </p:sp>
      <p:sp>
        <p:nvSpPr>
          <p:cNvPr id="6" name="Down Arrow 5"/>
          <p:cNvSpPr/>
          <p:nvPr/>
        </p:nvSpPr>
        <p:spPr>
          <a:xfrm>
            <a:off x="4892040" y="2514600"/>
            <a:ext cx="256032" cy="411480"/>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own Arrow 6"/>
          <p:cNvSpPr/>
          <p:nvPr/>
        </p:nvSpPr>
        <p:spPr>
          <a:xfrm>
            <a:off x="6903720" y="2514600"/>
            <a:ext cx="256032" cy="411480"/>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88720" y="3063240"/>
            <a:ext cx="4206240" cy="914400"/>
          </a:xfrm>
          <a:prstGeom prst="roundRect">
            <a:avLst>
              <a:gd name="adj" fmla="val 12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1F2937"/>
                </a:solidFill>
                <a:latin typeface="Segoe UI"/>
              </a:rPr>
              <a:t>DRM-free file</a:t>
            </a:r>
          </a:p>
          <a:p>
            <a:pPr algn="ctr"/>
            <a:r>
              <a:rPr sz="1100" b="0">
                <a:solidFill>
                  <a:srgbClr val="6B7280"/>
                </a:solidFill>
                <a:latin typeface="Segoe UI"/>
              </a:rPr>
              <a:t>CD rips, .mp3, DRM-free .m4a purchases</a:t>
            </a:r>
          </a:p>
        </p:txBody>
      </p:sp>
      <p:sp>
        <p:nvSpPr>
          <p:cNvPr id="9" name="Down Arrow 8"/>
          <p:cNvSpPr/>
          <p:nvPr/>
        </p:nvSpPr>
        <p:spPr>
          <a:xfrm>
            <a:off x="3063240" y="4114800"/>
            <a:ext cx="256032" cy="411480"/>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766560" y="3063240"/>
            <a:ext cx="4206240" cy="914400"/>
          </a:xfrm>
          <a:prstGeom prst="roundRect">
            <a:avLst>
              <a:gd name="adj" fmla="val 12000"/>
            </a:avLst>
          </a:prstGeom>
          <a:solidFill>
            <a:srgbClr val="FFFBEB"/>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B45309"/>
                </a:solidFill>
                <a:latin typeface="Segoe UI"/>
              </a:rPr>
              <a:t>DRM-protected .m4p</a:t>
            </a:r>
          </a:p>
          <a:p>
            <a:pPr algn="ctr"/>
            <a:r>
              <a:rPr sz="1100" b="0">
                <a:solidFill>
                  <a:srgbClr val="6B7280"/>
                </a:solidFill>
                <a:latin typeface="Segoe UI"/>
              </a:rPr>
              <a:t>subscription downloads — undecodable, greyed out</a:t>
            </a:r>
          </a:p>
        </p:txBody>
      </p:sp>
      <p:sp>
        <p:nvSpPr>
          <p:cNvPr id="11" name="Down Arrow 10"/>
          <p:cNvSpPr/>
          <p:nvPr/>
        </p:nvSpPr>
        <p:spPr>
          <a:xfrm>
            <a:off x="8686800" y="4114800"/>
            <a:ext cx="256032" cy="411480"/>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989320" y="4617720"/>
            <a:ext cx="5760720" cy="1051560"/>
          </a:xfrm>
          <a:prstGeom prst="roundRect">
            <a:avLst>
              <a:gd name="adj" fmla="val 12000"/>
            </a:avLst>
          </a:prstGeom>
          <a:solidFill>
            <a:srgbClr val="FFFBEB"/>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400" b="1">
                <a:solidFill>
                  <a:srgbClr val="1F2937"/>
                </a:solidFill>
                <a:latin typeface="Segoe UI"/>
              </a:rPr>
              <a:t>Loopback re-record → DRM-free WAV</a:t>
            </a:r>
          </a:p>
          <a:p>
            <a:pPr algn="ctr"/>
            <a:r>
              <a:rPr sz="1100" b="0">
                <a:solidFill>
                  <a:srgbClr val="6B7280"/>
                </a:solidFill>
                <a:latin typeface="Segoe UI"/>
              </a:rPr>
              <a:t>iTunes plays  →  VB-Audio virtual cable  →  capture (sounddevice)</a:t>
            </a:r>
          </a:p>
          <a:p>
            <a:pPr algn="ctr"/>
            <a:r>
              <a:rPr sz="1050" b="0">
                <a:solidFill>
                  <a:srgbClr val="6B7280"/>
                </a:solidFill>
                <a:latin typeface="Segoe UI"/>
              </a:rPr>
              <a:t>resumable · atomic writes · silent captures stop the run · personal use only</a:t>
            </a:r>
          </a:p>
        </p:txBody>
      </p:sp>
      <p:sp>
        <p:nvSpPr>
          <p:cNvPr id="13" name="Left Arrow 12"/>
          <p:cNvSpPr/>
          <p:nvPr/>
        </p:nvSpPr>
        <p:spPr>
          <a:xfrm>
            <a:off x="5440680" y="5029200"/>
            <a:ext cx="457200" cy="256032"/>
          </a:xfrm>
          <a:prstGeom prst="lef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188720" y="4617720"/>
            <a:ext cx="3749039" cy="1051560"/>
          </a:xfrm>
          <a:prstGeom prst="roundRect">
            <a:avLst>
              <a:gd name="adj" fmla="val 12000"/>
            </a:avLst>
          </a:prstGeom>
          <a:solidFill>
            <a:srgbClr val="F0FD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500" b="1">
                <a:solidFill>
                  <a:srgbClr val="1F2937"/>
                </a:solidFill>
                <a:latin typeface="Segoe UI"/>
              </a:rPr>
              <a:t>Stem separation</a:t>
            </a:r>
          </a:p>
          <a:p>
            <a:pPr algn="ctr"/>
            <a:r>
              <a:rPr sz="1100" b="0">
                <a:solidFill>
                  <a:srgbClr val="6B7280"/>
                </a:solidFill>
                <a:latin typeface="Segoe UI"/>
              </a:rPr>
              <a:t>the resolved source — original file or</a:t>
            </a:r>
          </a:p>
          <a:p>
            <a:pPr algn="ctr"/>
            <a:r>
              <a:rPr sz="1100" b="0">
                <a:solidFill>
                  <a:srgbClr val="6B7280"/>
                </a:solidFill>
                <a:latin typeface="Segoe UI"/>
              </a:rPr>
              <a:t>re-recorded WAV — feeds the pipeline</a:t>
            </a:r>
          </a:p>
        </p:txBody>
      </p:sp>
      <p:sp>
        <p:nvSpPr>
          <p:cNvPr id="15" name="TextBox 14"/>
          <p:cNvSpPr txBox="1"/>
          <p:nvPr/>
        </p:nvSpPr>
        <p:spPr>
          <a:xfrm>
            <a:off x="548640" y="6080760"/>
            <a:ext cx="11155680" cy="365760"/>
          </a:xfrm>
          <a:prstGeom prst="rect">
            <a:avLst/>
          </a:prstGeom>
          <a:noFill/>
        </p:spPr>
        <p:txBody>
          <a:bodyPr wrap="square" lIns="76200" tIns="50800" rIns="76200" bIns="50800" anchor="ctr">
            <a:spAutoFit/>
          </a:bodyPr>
          <a:lstStyle/>
          <a:p>
            <a:pPr algn="l"/>
            <a:r>
              <a:rPr sz="1150" b="0">
                <a:solidFill>
                  <a:srgbClr val="6B7280"/>
                </a:solidFill>
                <a:latin typeface="Segoe UI"/>
              </a:rPr>
              <a:t>Re-recording captures playback in real time (a playlist takes about its runtime); it records audio output — it does not remove DRM.</a:t>
            </a:r>
          </a:p>
        </p:txBody>
      </p:sp>
      <p:pic>
        <p:nvPicPr>
          <p:cNvPr id="17" name="Picture 16">
            <a:extLst>
              <a:ext uri="{FF2B5EF4-FFF2-40B4-BE49-F238E27FC236}">
                <a16:creationId xmlns:a16="http://schemas.microsoft.com/office/drawing/2014/main" id="{9BCACF95-BF3E-643F-B784-1CF661EF21F3}"/>
              </a:ext>
            </a:extLst>
          </p:cNvPr>
          <p:cNvPicPr>
            <a:picLocks noChangeAspect="1"/>
          </p:cNvPicPr>
          <p:nvPr/>
        </p:nvPicPr>
        <p:blipFill>
          <a:blip r:embed="rId2"/>
          <a:stretch>
            <a:fillRect/>
          </a:stretch>
        </p:blipFill>
        <p:spPr>
          <a:xfrm>
            <a:off x="10281197" y="320550"/>
            <a:ext cx="1151123" cy="115112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FED21-3C66-D7A1-7101-8316943FF1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9580DF-C887-C16C-6119-E53CA9B83F70}"/>
              </a:ext>
            </a:extLst>
          </p:cNvPr>
          <p:cNvSpPr txBox="1"/>
          <p:nvPr/>
        </p:nvSpPr>
        <p:spPr>
          <a:xfrm>
            <a:off x="1098319" y="1143391"/>
            <a:ext cx="10025483" cy="4124206"/>
          </a:xfrm>
          <a:prstGeom prst="rect">
            <a:avLst/>
          </a:prstGeom>
          <a:noFill/>
        </p:spPr>
        <p:txBody>
          <a:bodyPr wrap="square" rtlCol="0">
            <a:spAutoFit/>
          </a:bodyPr>
          <a:lstStyle/>
          <a:p>
            <a:r>
              <a:rPr lang="en-US" sz="2800" dirty="0"/>
              <a:t>Testing</a:t>
            </a:r>
            <a:endParaRPr lang="en-US" dirty="0"/>
          </a:p>
          <a:p>
            <a:pPr marL="285750" indent="-285750">
              <a:buFontTx/>
              <a:buChar char="-"/>
            </a:pPr>
            <a:r>
              <a:rPr lang="en-US" dirty="0"/>
              <a:t>Owner-Generated or AI?</a:t>
            </a:r>
          </a:p>
          <a:p>
            <a:pPr marL="742950" lvl="1" indent="-285750">
              <a:buFontTx/>
              <a:buChar char="-"/>
            </a:pPr>
            <a:r>
              <a:rPr lang="en-US" dirty="0"/>
              <a:t>Avoid “tests are boring – I’ll let AI do it”</a:t>
            </a:r>
          </a:p>
          <a:p>
            <a:pPr marL="285750" indent="-285750">
              <a:buFontTx/>
              <a:buChar char="-"/>
            </a:pPr>
            <a:r>
              <a:rPr lang="en-US" dirty="0"/>
              <a:t>Owner</a:t>
            </a:r>
          </a:p>
          <a:p>
            <a:pPr marL="742950" lvl="1" indent="-285750">
              <a:buFontTx/>
              <a:buChar char="-"/>
            </a:pPr>
            <a:r>
              <a:rPr lang="en-US" dirty="0"/>
              <a:t>For critical code and/or delivering to others, owner’s tests should specify functionality (TDD, Spec Driven Tests, etc.).</a:t>
            </a:r>
          </a:p>
          <a:p>
            <a:pPr marL="742950" lvl="1" indent="-285750">
              <a:buFontTx/>
              <a:buChar char="-"/>
            </a:pPr>
            <a:r>
              <a:rPr lang="en-US" dirty="0"/>
              <a:t>For non-critical and/or hyper-personalized code (code is tested during use), user-written tests may not be necessary.</a:t>
            </a:r>
          </a:p>
          <a:p>
            <a:pPr marL="285750" indent="-285750">
              <a:buFontTx/>
              <a:buChar char="-"/>
            </a:pPr>
            <a:r>
              <a:rPr lang="en-US" dirty="0"/>
              <a:t>AI</a:t>
            </a:r>
          </a:p>
          <a:p>
            <a:pPr marL="742950" lvl="1" indent="-285750">
              <a:buFontTx/>
              <a:buChar char="-"/>
            </a:pPr>
            <a:r>
              <a:rPr lang="en-US" dirty="0"/>
              <a:t>AI can created Regression Tests once functionality is defined. Enables refactoring, performance improvements, framework migration.</a:t>
            </a:r>
          </a:p>
          <a:p>
            <a:pPr marL="285750" indent="-285750">
              <a:buFontTx/>
              <a:buChar char="-"/>
            </a:pPr>
            <a:r>
              <a:rPr lang="en-US" dirty="0"/>
              <a:t>Use Code Coverage (including branch coverage) to guide test efforts.</a:t>
            </a:r>
          </a:p>
          <a:p>
            <a:pPr marL="742950" lvl="1" indent="-285750">
              <a:buFontTx/>
              <a:buChar char="-"/>
            </a:pPr>
            <a:r>
              <a:rPr lang="en-US" dirty="0"/>
              <a:t>80% Code Coverage </a:t>
            </a:r>
            <a:r>
              <a:rPr lang="en-US" dirty="0">
                <a:sym typeface="Wingdings" panose="05000000000000000000" pitchFamily="2" charset="2"/>
              </a:rPr>
              <a:t> 20%</a:t>
            </a:r>
            <a:r>
              <a:rPr lang="en-US" dirty="0"/>
              <a:t> “not covered”.</a:t>
            </a:r>
          </a:p>
          <a:p>
            <a:pPr marL="285750" indent="-285750">
              <a:buFontTx/>
              <a:buChar char="-"/>
            </a:pPr>
            <a:r>
              <a:rPr lang="en-US" dirty="0"/>
              <a:t>The expertise is in deciding what tests to create and by whom.</a:t>
            </a:r>
          </a:p>
        </p:txBody>
      </p:sp>
    </p:spTree>
    <p:extLst>
      <p:ext uri="{BB962C8B-B14F-4D97-AF65-F5344CB8AC3E}">
        <p14:creationId xmlns:p14="http://schemas.microsoft.com/office/powerpoint/2010/main" val="1132562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A1FDFC-345A-CA08-345D-16034713B418}"/>
              </a:ext>
            </a:extLst>
          </p:cNvPr>
          <p:cNvSpPr txBox="1"/>
          <p:nvPr/>
        </p:nvSpPr>
        <p:spPr>
          <a:xfrm>
            <a:off x="2725783" y="1328057"/>
            <a:ext cx="4722318" cy="369332"/>
          </a:xfrm>
          <a:prstGeom prst="rect">
            <a:avLst/>
          </a:prstGeom>
          <a:noFill/>
        </p:spPr>
        <p:txBody>
          <a:bodyPr wrap="none" rtlCol="0">
            <a:spAutoFit/>
          </a:bodyPr>
          <a:lstStyle/>
          <a:p>
            <a:r>
              <a:rPr lang="en-US" dirty="0"/>
              <a:t>Finish up with my tech over time, with AI added.</a:t>
            </a:r>
          </a:p>
        </p:txBody>
      </p:sp>
    </p:spTree>
    <p:extLst>
      <p:ext uri="{BB962C8B-B14F-4D97-AF65-F5344CB8AC3E}">
        <p14:creationId xmlns:p14="http://schemas.microsoft.com/office/powerpoint/2010/main" val="940242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1148</Words>
  <Application>Microsoft Office PowerPoint</Application>
  <PresentationFormat>Widescreen</PresentationFormat>
  <Paragraphs>159</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BACKUP</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James Abel</cp:lastModifiedBy>
  <cp:revision>17</cp:revision>
  <dcterms:created xsi:type="dcterms:W3CDTF">2013-01-27T09:14:16Z</dcterms:created>
  <dcterms:modified xsi:type="dcterms:W3CDTF">2026-08-27T19:34:06Z</dcterms:modified>
  <cp:category/>
</cp:coreProperties>
</file>